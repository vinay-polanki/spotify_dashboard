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7" r:id="rId2"/>
    <p:sldId id="258" r:id="rId3"/>
    <p:sldId id="256" r:id="rId4"/>
    <p:sldId id="259" r:id="rId5"/>
    <p:sldId id="260" r:id="rId6"/>
    <p:sldId id="261" r:id="rId7"/>
    <p:sldId id="262"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3722"/>
    <a:srgbClr val="034329"/>
    <a:srgbClr val="04643D"/>
    <a:srgbClr val="07B5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58"/>
  </p:normalViewPr>
  <p:slideViewPr>
    <p:cSldViewPr snapToGrid="0">
      <p:cViewPr varScale="1">
        <p:scale>
          <a:sx n="95" d="100"/>
          <a:sy n="95" d="100"/>
        </p:scale>
        <p:origin x="200" y="7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7B4996-7D3B-104B-B589-6AF71A1FCAC8}" type="datetimeFigureOut">
              <a:rPr lang="en-US" smtClean="0"/>
              <a:t>4/13/25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2B5CE-96E3-2A49-B7FF-803337252F0F}" type="slidenum">
              <a:rPr lang="en-US" smtClean="0"/>
              <a:t>‹#›</a:t>
            </a:fld>
            <a:endParaRPr lang="en-US"/>
          </a:p>
        </p:txBody>
      </p:sp>
    </p:spTree>
    <p:extLst>
      <p:ext uri="{BB962C8B-B14F-4D97-AF65-F5344CB8AC3E}">
        <p14:creationId xmlns:p14="http://schemas.microsoft.com/office/powerpoint/2010/main" val="1951716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52B5CE-96E3-2A49-B7FF-803337252F0F}" type="slidenum">
              <a:rPr lang="en-US" smtClean="0"/>
              <a:t>4</a:t>
            </a:fld>
            <a:endParaRPr lang="en-US"/>
          </a:p>
        </p:txBody>
      </p:sp>
    </p:spTree>
    <p:extLst>
      <p:ext uri="{BB962C8B-B14F-4D97-AF65-F5344CB8AC3E}">
        <p14:creationId xmlns:p14="http://schemas.microsoft.com/office/powerpoint/2010/main" val="540030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215EE-D297-AB26-BAB4-0918A90A12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B491B1-6592-A2E7-0220-F74312464C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B633229-8415-EA81-C076-56754AFB5162}"/>
              </a:ext>
            </a:extLst>
          </p:cNvPr>
          <p:cNvSpPr>
            <a:spLocks noGrp="1"/>
          </p:cNvSpPr>
          <p:nvPr>
            <p:ph type="dt" sz="half" idx="10"/>
          </p:nvPr>
        </p:nvSpPr>
        <p:spPr/>
        <p:txBody>
          <a:bodyPr/>
          <a:lstStyle/>
          <a:p>
            <a:fld id="{4AD56D77-E087-49B0-8F15-7C6F25930B27}" type="datetimeFigureOut">
              <a:rPr lang="en-IN" smtClean="0"/>
              <a:t>13/04/25</a:t>
            </a:fld>
            <a:endParaRPr lang="en-IN"/>
          </a:p>
        </p:txBody>
      </p:sp>
      <p:sp>
        <p:nvSpPr>
          <p:cNvPr id="5" name="Footer Placeholder 4">
            <a:extLst>
              <a:ext uri="{FF2B5EF4-FFF2-40B4-BE49-F238E27FC236}">
                <a16:creationId xmlns:a16="http://schemas.microsoft.com/office/drawing/2014/main" id="{1C0277CD-0D13-BF23-6B44-31F1CC3332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98F05E-5BA2-03B0-7ACA-3F07C01E9619}"/>
              </a:ext>
            </a:extLst>
          </p:cNvPr>
          <p:cNvSpPr>
            <a:spLocks noGrp="1"/>
          </p:cNvSpPr>
          <p:nvPr>
            <p:ph type="sldNum" sz="quarter" idx="12"/>
          </p:nvPr>
        </p:nvSpPr>
        <p:spPr/>
        <p:txBody>
          <a:bodyPr/>
          <a:lstStyle/>
          <a:p>
            <a:fld id="{AA6B35FF-A7DD-4BEA-B68C-2EC7FFFF183B}" type="slidenum">
              <a:rPr lang="en-IN" smtClean="0"/>
              <a:t>‹#›</a:t>
            </a:fld>
            <a:endParaRPr lang="en-IN"/>
          </a:p>
        </p:txBody>
      </p:sp>
    </p:spTree>
    <p:extLst>
      <p:ext uri="{BB962C8B-B14F-4D97-AF65-F5344CB8AC3E}">
        <p14:creationId xmlns:p14="http://schemas.microsoft.com/office/powerpoint/2010/main" val="2016043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93BB-EA1E-1F43-EF1B-0258765544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7178CF-1FAD-6AFC-0C5A-24C8425DF3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22664E-6916-A07E-35E3-55E530AD7BDF}"/>
              </a:ext>
            </a:extLst>
          </p:cNvPr>
          <p:cNvSpPr>
            <a:spLocks noGrp="1"/>
          </p:cNvSpPr>
          <p:nvPr>
            <p:ph type="dt" sz="half" idx="10"/>
          </p:nvPr>
        </p:nvSpPr>
        <p:spPr/>
        <p:txBody>
          <a:bodyPr/>
          <a:lstStyle/>
          <a:p>
            <a:fld id="{4AD56D77-E087-49B0-8F15-7C6F25930B27}" type="datetimeFigureOut">
              <a:rPr lang="en-IN" smtClean="0"/>
              <a:t>13/04/25</a:t>
            </a:fld>
            <a:endParaRPr lang="en-IN"/>
          </a:p>
        </p:txBody>
      </p:sp>
      <p:sp>
        <p:nvSpPr>
          <p:cNvPr id="5" name="Footer Placeholder 4">
            <a:extLst>
              <a:ext uri="{FF2B5EF4-FFF2-40B4-BE49-F238E27FC236}">
                <a16:creationId xmlns:a16="http://schemas.microsoft.com/office/drawing/2014/main" id="{AADA6ADB-F6B4-377F-3373-AED0DB3755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285863-7A95-F711-81AA-3BF8D5B0E203}"/>
              </a:ext>
            </a:extLst>
          </p:cNvPr>
          <p:cNvSpPr>
            <a:spLocks noGrp="1"/>
          </p:cNvSpPr>
          <p:nvPr>
            <p:ph type="sldNum" sz="quarter" idx="12"/>
          </p:nvPr>
        </p:nvSpPr>
        <p:spPr/>
        <p:txBody>
          <a:bodyPr/>
          <a:lstStyle/>
          <a:p>
            <a:fld id="{AA6B35FF-A7DD-4BEA-B68C-2EC7FFFF183B}" type="slidenum">
              <a:rPr lang="en-IN" smtClean="0"/>
              <a:t>‹#›</a:t>
            </a:fld>
            <a:endParaRPr lang="en-IN"/>
          </a:p>
        </p:txBody>
      </p:sp>
    </p:spTree>
    <p:extLst>
      <p:ext uri="{BB962C8B-B14F-4D97-AF65-F5344CB8AC3E}">
        <p14:creationId xmlns:p14="http://schemas.microsoft.com/office/powerpoint/2010/main" val="4159435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9801-7CEB-6659-7EF9-C2FA85CF2B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504EBBB-9ED2-EF9E-D347-B6DDFCB3FD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F80121-AB50-7F35-0907-8E407A8860F1}"/>
              </a:ext>
            </a:extLst>
          </p:cNvPr>
          <p:cNvSpPr>
            <a:spLocks noGrp="1"/>
          </p:cNvSpPr>
          <p:nvPr>
            <p:ph type="dt" sz="half" idx="10"/>
          </p:nvPr>
        </p:nvSpPr>
        <p:spPr/>
        <p:txBody>
          <a:bodyPr/>
          <a:lstStyle/>
          <a:p>
            <a:fld id="{4AD56D77-E087-49B0-8F15-7C6F25930B27}" type="datetimeFigureOut">
              <a:rPr lang="en-IN" smtClean="0"/>
              <a:t>13/04/25</a:t>
            </a:fld>
            <a:endParaRPr lang="en-IN"/>
          </a:p>
        </p:txBody>
      </p:sp>
      <p:sp>
        <p:nvSpPr>
          <p:cNvPr id="5" name="Footer Placeholder 4">
            <a:extLst>
              <a:ext uri="{FF2B5EF4-FFF2-40B4-BE49-F238E27FC236}">
                <a16:creationId xmlns:a16="http://schemas.microsoft.com/office/drawing/2014/main" id="{A9A5DFE7-D2AD-6441-ED27-41B863CEAB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067208-9D2C-7126-CE1F-9ABD90918150}"/>
              </a:ext>
            </a:extLst>
          </p:cNvPr>
          <p:cNvSpPr>
            <a:spLocks noGrp="1"/>
          </p:cNvSpPr>
          <p:nvPr>
            <p:ph type="sldNum" sz="quarter" idx="12"/>
          </p:nvPr>
        </p:nvSpPr>
        <p:spPr/>
        <p:txBody>
          <a:bodyPr/>
          <a:lstStyle/>
          <a:p>
            <a:fld id="{AA6B35FF-A7DD-4BEA-B68C-2EC7FFFF183B}" type="slidenum">
              <a:rPr lang="en-IN" smtClean="0"/>
              <a:t>‹#›</a:t>
            </a:fld>
            <a:endParaRPr lang="en-IN"/>
          </a:p>
        </p:txBody>
      </p:sp>
    </p:spTree>
    <p:extLst>
      <p:ext uri="{BB962C8B-B14F-4D97-AF65-F5344CB8AC3E}">
        <p14:creationId xmlns:p14="http://schemas.microsoft.com/office/powerpoint/2010/main" val="1180571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8E177-6486-9CE2-3C03-A02CCF43C4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2415E6-CE24-0275-95F3-65EBBE4C09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FE25B1-0F16-6C2B-FF27-DADD5A4EDD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C25200-3EFA-E839-D7C0-9B61CAA47711}"/>
              </a:ext>
            </a:extLst>
          </p:cNvPr>
          <p:cNvSpPr>
            <a:spLocks noGrp="1"/>
          </p:cNvSpPr>
          <p:nvPr>
            <p:ph type="dt" sz="half" idx="10"/>
          </p:nvPr>
        </p:nvSpPr>
        <p:spPr/>
        <p:txBody>
          <a:bodyPr/>
          <a:lstStyle/>
          <a:p>
            <a:fld id="{4AD56D77-E087-49B0-8F15-7C6F25930B27}" type="datetimeFigureOut">
              <a:rPr lang="en-IN" smtClean="0"/>
              <a:t>13/04/25</a:t>
            </a:fld>
            <a:endParaRPr lang="en-IN"/>
          </a:p>
        </p:txBody>
      </p:sp>
      <p:sp>
        <p:nvSpPr>
          <p:cNvPr id="6" name="Footer Placeholder 5">
            <a:extLst>
              <a:ext uri="{FF2B5EF4-FFF2-40B4-BE49-F238E27FC236}">
                <a16:creationId xmlns:a16="http://schemas.microsoft.com/office/drawing/2014/main" id="{9588387C-A4A8-889A-D37A-CEBF7384B7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ABE7BE-527A-AF43-4E17-EF08584CD0FE}"/>
              </a:ext>
            </a:extLst>
          </p:cNvPr>
          <p:cNvSpPr>
            <a:spLocks noGrp="1"/>
          </p:cNvSpPr>
          <p:nvPr>
            <p:ph type="sldNum" sz="quarter" idx="12"/>
          </p:nvPr>
        </p:nvSpPr>
        <p:spPr/>
        <p:txBody>
          <a:bodyPr/>
          <a:lstStyle/>
          <a:p>
            <a:fld id="{AA6B35FF-A7DD-4BEA-B68C-2EC7FFFF183B}" type="slidenum">
              <a:rPr lang="en-IN" smtClean="0"/>
              <a:t>‹#›</a:t>
            </a:fld>
            <a:endParaRPr lang="en-IN"/>
          </a:p>
        </p:txBody>
      </p:sp>
    </p:spTree>
    <p:extLst>
      <p:ext uri="{BB962C8B-B14F-4D97-AF65-F5344CB8AC3E}">
        <p14:creationId xmlns:p14="http://schemas.microsoft.com/office/powerpoint/2010/main" val="2877269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7BA4A-0EB3-9A6D-4D30-C87FAE5071E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C7B9A5-436C-BA39-E8F4-407D5821A7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940DC2-71EC-6249-7911-64779DB925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25A510A-EA8D-E66A-2D4A-EB7B2FFD8B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4A520B-2AA8-3FB5-FFEB-9DFE33823B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CAE98E8-8C8F-B10D-0B68-8B6AF70DEE5B}"/>
              </a:ext>
            </a:extLst>
          </p:cNvPr>
          <p:cNvSpPr>
            <a:spLocks noGrp="1"/>
          </p:cNvSpPr>
          <p:nvPr>
            <p:ph type="dt" sz="half" idx="10"/>
          </p:nvPr>
        </p:nvSpPr>
        <p:spPr/>
        <p:txBody>
          <a:bodyPr/>
          <a:lstStyle/>
          <a:p>
            <a:fld id="{4AD56D77-E087-49B0-8F15-7C6F25930B27}" type="datetimeFigureOut">
              <a:rPr lang="en-IN" smtClean="0"/>
              <a:t>13/04/25</a:t>
            </a:fld>
            <a:endParaRPr lang="en-IN"/>
          </a:p>
        </p:txBody>
      </p:sp>
      <p:sp>
        <p:nvSpPr>
          <p:cNvPr id="8" name="Footer Placeholder 7">
            <a:extLst>
              <a:ext uri="{FF2B5EF4-FFF2-40B4-BE49-F238E27FC236}">
                <a16:creationId xmlns:a16="http://schemas.microsoft.com/office/drawing/2014/main" id="{2AA011F1-8057-3D32-2857-03E1AF006B7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D6EABA-F14D-11A7-E345-559823BBDA13}"/>
              </a:ext>
            </a:extLst>
          </p:cNvPr>
          <p:cNvSpPr>
            <a:spLocks noGrp="1"/>
          </p:cNvSpPr>
          <p:nvPr>
            <p:ph type="sldNum" sz="quarter" idx="12"/>
          </p:nvPr>
        </p:nvSpPr>
        <p:spPr/>
        <p:txBody>
          <a:bodyPr/>
          <a:lstStyle/>
          <a:p>
            <a:fld id="{AA6B35FF-A7DD-4BEA-B68C-2EC7FFFF183B}" type="slidenum">
              <a:rPr lang="en-IN" smtClean="0"/>
              <a:t>‹#›</a:t>
            </a:fld>
            <a:endParaRPr lang="en-IN"/>
          </a:p>
        </p:txBody>
      </p:sp>
    </p:spTree>
    <p:extLst>
      <p:ext uri="{BB962C8B-B14F-4D97-AF65-F5344CB8AC3E}">
        <p14:creationId xmlns:p14="http://schemas.microsoft.com/office/powerpoint/2010/main" val="1512535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17AA8-61AE-7E30-08F6-F2F5CB08D9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DE97377-E79C-AB9A-1099-08D0B5452554}"/>
              </a:ext>
            </a:extLst>
          </p:cNvPr>
          <p:cNvSpPr>
            <a:spLocks noGrp="1"/>
          </p:cNvSpPr>
          <p:nvPr>
            <p:ph type="dt" sz="half" idx="10"/>
          </p:nvPr>
        </p:nvSpPr>
        <p:spPr/>
        <p:txBody>
          <a:bodyPr/>
          <a:lstStyle/>
          <a:p>
            <a:fld id="{4AD56D77-E087-49B0-8F15-7C6F25930B27}" type="datetimeFigureOut">
              <a:rPr lang="en-IN" smtClean="0"/>
              <a:t>13/04/25</a:t>
            </a:fld>
            <a:endParaRPr lang="en-IN"/>
          </a:p>
        </p:txBody>
      </p:sp>
      <p:sp>
        <p:nvSpPr>
          <p:cNvPr id="4" name="Footer Placeholder 3">
            <a:extLst>
              <a:ext uri="{FF2B5EF4-FFF2-40B4-BE49-F238E27FC236}">
                <a16:creationId xmlns:a16="http://schemas.microsoft.com/office/drawing/2014/main" id="{AF61E707-A95A-1BA6-1AA5-7DB423621EF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67E4AEA-CB19-1678-7BF8-729003FD6335}"/>
              </a:ext>
            </a:extLst>
          </p:cNvPr>
          <p:cNvSpPr>
            <a:spLocks noGrp="1"/>
          </p:cNvSpPr>
          <p:nvPr>
            <p:ph type="sldNum" sz="quarter" idx="12"/>
          </p:nvPr>
        </p:nvSpPr>
        <p:spPr/>
        <p:txBody>
          <a:bodyPr/>
          <a:lstStyle/>
          <a:p>
            <a:fld id="{AA6B35FF-A7DD-4BEA-B68C-2EC7FFFF183B}" type="slidenum">
              <a:rPr lang="en-IN" smtClean="0"/>
              <a:t>‹#›</a:t>
            </a:fld>
            <a:endParaRPr lang="en-IN"/>
          </a:p>
        </p:txBody>
      </p:sp>
    </p:spTree>
    <p:extLst>
      <p:ext uri="{BB962C8B-B14F-4D97-AF65-F5344CB8AC3E}">
        <p14:creationId xmlns:p14="http://schemas.microsoft.com/office/powerpoint/2010/main" val="3694905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69A4B0-EC67-8004-320C-E38814E6AE55}"/>
              </a:ext>
            </a:extLst>
          </p:cNvPr>
          <p:cNvSpPr>
            <a:spLocks noGrp="1"/>
          </p:cNvSpPr>
          <p:nvPr>
            <p:ph type="dt" sz="half" idx="10"/>
          </p:nvPr>
        </p:nvSpPr>
        <p:spPr/>
        <p:txBody>
          <a:bodyPr/>
          <a:lstStyle/>
          <a:p>
            <a:fld id="{4AD56D77-E087-49B0-8F15-7C6F25930B27}" type="datetimeFigureOut">
              <a:rPr lang="en-IN" smtClean="0"/>
              <a:t>13/04/25</a:t>
            </a:fld>
            <a:endParaRPr lang="en-IN"/>
          </a:p>
        </p:txBody>
      </p:sp>
      <p:sp>
        <p:nvSpPr>
          <p:cNvPr id="3" name="Footer Placeholder 2">
            <a:extLst>
              <a:ext uri="{FF2B5EF4-FFF2-40B4-BE49-F238E27FC236}">
                <a16:creationId xmlns:a16="http://schemas.microsoft.com/office/drawing/2014/main" id="{D47570D2-A42D-1C27-5A1A-B433D151878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1903B6-259D-EC95-73BD-4F3BF835665E}"/>
              </a:ext>
            </a:extLst>
          </p:cNvPr>
          <p:cNvSpPr>
            <a:spLocks noGrp="1"/>
          </p:cNvSpPr>
          <p:nvPr>
            <p:ph type="sldNum" sz="quarter" idx="12"/>
          </p:nvPr>
        </p:nvSpPr>
        <p:spPr/>
        <p:txBody>
          <a:bodyPr/>
          <a:lstStyle/>
          <a:p>
            <a:fld id="{AA6B35FF-A7DD-4BEA-B68C-2EC7FFFF183B}" type="slidenum">
              <a:rPr lang="en-IN" smtClean="0"/>
              <a:t>‹#›</a:t>
            </a:fld>
            <a:endParaRPr lang="en-IN"/>
          </a:p>
        </p:txBody>
      </p:sp>
    </p:spTree>
    <p:extLst>
      <p:ext uri="{BB962C8B-B14F-4D97-AF65-F5344CB8AC3E}">
        <p14:creationId xmlns:p14="http://schemas.microsoft.com/office/powerpoint/2010/main" val="2630233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8669D-CF28-7F8E-2839-715839CFAA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A27040E-7379-F864-59C8-F00878A466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62AECF-1E2E-31D7-3063-BDCA5359C9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225D88-F87B-49D8-0178-1BD385151429}"/>
              </a:ext>
            </a:extLst>
          </p:cNvPr>
          <p:cNvSpPr>
            <a:spLocks noGrp="1"/>
          </p:cNvSpPr>
          <p:nvPr>
            <p:ph type="dt" sz="half" idx="10"/>
          </p:nvPr>
        </p:nvSpPr>
        <p:spPr/>
        <p:txBody>
          <a:bodyPr/>
          <a:lstStyle/>
          <a:p>
            <a:fld id="{4AD56D77-E087-49B0-8F15-7C6F25930B27}" type="datetimeFigureOut">
              <a:rPr lang="en-IN" smtClean="0"/>
              <a:t>13/04/25</a:t>
            </a:fld>
            <a:endParaRPr lang="en-IN"/>
          </a:p>
        </p:txBody>
      </p:sp>
      <p:sp>
        <p:nvSpPr>
          <p:cNvPr id="6" name="Footer Placeholder 5">
            <a:extLst>
              <a:ext uri="{FF2B5EF4-FFF2-40B4-BE49-F238E27FC236}">
                <a16:creationId xmlns:a16="http://schemas.microsoft.com/office/drawing/2014/main" id="{E7EF538F-5B87-BDD6-4520-1C03FC7A37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EDDF54-397B-C78A-83AC-29C4D1494EC8}"/>
              </a:ext>
            </a:extLst>
          </p:cNvPr>
          <p:cNvSpPr>
            <a:spLocks noGrp="1"/>
          </p:cNvSpPr>
          <p:nvPr>
            <p:ph type="sldNum" sz="quarter" idx="12"/>
          </p:nvPr>
        </p:nvSpPr>
        <p:spPr/>
        <p:txBody>
          <a:bodyPr/>
          <a:lstStyle/>
          <a:p>
            <a:fld id="{AA6B35FF-A7DD-4BEA-B68C-2EC7FFFF183B}" type="slidenum">
              <a:rPr lang="en-IN" smtClean="0"/>
              <a:t>‹#›</a:t>
            </a:fld>
            <a:endParaRPr lang="en-IN"/>
          </a:p>
        </p:txBody>
      </p:sp>
    </p:spTree>
    <p:extLst>
      <p:ext uri="{BB962C8B-B14F-4D97-AF65-F5344CB8AC3E}">
        <p14:creationId xmlns:p14="http://schemas.microsoft.com/office/powerpoint/2010/main" val="149776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FDF1-CC3D-5E3C-877F-79D16017F1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42A58F-BA4F-DAD6-FE52-B3EA4EB99E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6FF6FD3-8060-771D-969B-82B5A56D81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B22AE6-E74E-0795-CD7D-ECC6C1BBE17D}"/>
              </a:ext>
            </a:extLst>
          </p:cNvPr>
          <p:cNvSpPr>
            <a:spLocks noGrp="1"/>
          </p:cNvSpPr>
          <p:nvPr>
            <p:ph type="dt" sz="half" idx="10"/>
          </p:nvPr>
        </p:nvSpPr>
        <p:spPr/>
        <p:txBody>
          <a:bodyPr/>
          <a:lstStyle/>
          <a:p>
            <a:fld id="{4AD56D77-E087-49B0-8F15-7C6F25930B27}" type="datetimeFigureOut">
              <a:rPr lang="en-IN" smtClean="0"/>
              <a:t>13/04/25</a:t>
            </a:fld>
            <a:endParaRPr lang="en-IN"/>
          </a:p>
        </p:txBody>
      </p:sp>
      <p:sp>
        <p:nvSpPr>
          <p:cNvPr id="6" name="Footer Placeholder 5">
            <a:extLst>
              <a:ext uri="{FF2B5EF4-FFF2-40B4-BE49-F238E27FC236}">
                <a16:creationId xmlns:a16="http://schemas.microsoft.com/office/drawing/2014/main" id="{F06AE077-784B-C712-DEBA-BC5DEE1C89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710DCD-340B-441E-B543-CD21F563BB32}"/>
              </a:ext>
            </a:extLst>
          </p:cNvPr>
          <p:cNvSpPr>
            <a:spLocks noGrp="1"/>
          </p:cNvSpPr>
          <p:nvPr>
            <p:ph type="sldNum" sz="quarter" idx="12"/>
          </p:nvPr>
        </p:nvSpPr>
        <p:spPr/>
        <p:txBody>
          <a:bodyPr/>
          <a:lstStyle/>
          <a:p>
            <a:fld id="{AA6B35FF-A7DD-4BEA-B68C-2EC7FFFF183B}" type="slidenum">
              <a:rPr lang="en-IN" smtClean="0"/>
              <a:t>‹#›</a:t>
            </a:fld>
            <a:endParaRPr lang="en-IN"/>
          </a:p>
        </p:txBody>
      </p:sp>
    </p:spTree>
    <p:extLst>
      <p:ext uri="{BB962C8B-B14F-4D97-AF65-F5344CB8AC3E}">
        <p14:creationId xmlns:p14="http://schemas.microsoft.com/office/powerpoint/2010/main" val="4093951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4C925-0743-C811-F7E1-8EF7C089F3F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E7F8183-9202-3782-2231-610014B3FF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53DE05-4F34-B00E-1E4F-8FCE2C89EC8E}"/>
              </a:ext>
            </a:extLst>
          </p:cNvPr>
          <p:cNvSpPr>
            <a:spLocks noGrp="1"/>
          </p:cNvSpPr>
          <p:nvPr>
            <p:ph type="dt" sz="half" idx="10"/>
          </p:nvPr>
        </p:nvSpPr>
        <p:spPr/>
        <p:txBody>
          <a:bodyPr/>
          <a:lstStyle/>
          <a:p>
            <a:fld id="{4AD56D77-E087-49B0-8F15-7C6F25930B27}" type="datetimeFigureOut">
              <a:rPr lang="en-IN" smtClean="0"/>
              <a:t>13/04/25</a:t>
            </a:fld>
            <a:endParaRPr lang="en-IN"/>
          </a:p>
        </p:txBody>
      </p:sp>
      <p:sp>
        <p:nvSpPr>
          <p:cNvPr id="5" name="Footer Placeholder 4">
            <a:extLst>
              <a:ext uri="{FF2B5EF4-FFF2-40B4-BE49-F238E27FC236}">
                <a16:creationId xmlns:a16="http://schemas.microsoft.com/office/drawing/2014/main" id="{C7110D37-730C-56A9-C845-F2D48723A4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8CC0B6-CC1C-E7FA-781F-645B99B39926}"/>
              </a:ext>
            </a:extLst>
          </p:cNvPr>
          <p:cNvSpPr>
            <a:spLocks noGrp="1"/>
          </p:cNvSpPr>
          <p:nvPr>
            <p:ph type="sldNum" sz="quarter" idx="12"/>
          </p:nvPr>
        </p:nvSpPr>
        <p:spPr/>
        <p:txBody>
          <a:bodyPr/>
          <a:lstStyle/>
          <a:p>
            <a:fld id="{AA6B35FF-A7DD-4BEA-B68C-2EC7FFFF183B}" type="slidenum">
              <a:rPr lang="en-IN" smtClean="0"/>
              <a:t>‹#›</a:t>
            </a:fld>
            <a:endParaRPr lang="en-IN"/>
          </a:p>
        </p:txBody>
      </p:sp>
    </p:spTree>
    <p:extLst>
      <p:ext uri="{BB962C8B-B14F-4D97-AF65-F5344CB8AC3E}">
        <p14:creationId xmlns:p14="http://schemas.microsoft.com/office/powerpoint/2010/main" val="393993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27E03D-8D2D-C4ED-7753-628C3F17137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3FFADB-FBCE-EE5E-1381-A204A09180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0C841D-7BC5-9FB9-25BE-94A9F19C541B}"/>
              </a:ext>
            </a:extLst>
          </p:cNvPr>
          <p:cNvSpPr>
            <a:spLocks noGrp="1"/>
          </p:cNvSpPr>
          <p:nvPr>
            <p:ph type="dt" sz="half" idx="10"/>
          </p:nvPr>
        </p:nvSpPr>
        <p:spPr/>
        <p:txBody>
          <a:bodyPr/>
          <a:lstStyle/>
          <a:p>
            <a:fld id="{4AD56D77-E087-49B0-8F15-7C6F25930B27}" type="datetimeFigureOut">
              <a:rPr lang="en-IN" smtClean="0"/>
              <a:t>13/04/25</a:t>
            </a:fld>
            <a:endParaRPr lang="en-IN"/>
          </a:p>
        </p:txBody>
      </p:sp>
      <p:sp>
        <p:nvSpPr>
          <p:cNvPr id="5" name="Footer Placeholder 4">
            <a:extLst>
              <a:ext uri="{FF2B5EF4-FFF2-40B4-BE49-F238E27FC236}">
                <a16:creationId xmlns:a16="http://schemas.microsoft.com/office/drawing/2014/main" id="{DEE65257-A991-8304-686A-BA20647804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073489-46C1-ADC5-7C02-0254181D01E9}"/>
              </a:ext>
            </a:extLst>
          </p:cNvPr>
          <p:cNvSpPr>
            <a:spLocks noGrp="1"/>
          </p:cNvSpPr>
          <p:nvPr>
            <p:ph type="sldNum" sz="quarter" idx="12"/>
          </p:nvPr>
        </p:nvSpPr>
        <p:spPr/>
        <p:txBody>
          <a:bodyPr/>
          <a:lstStyle/>
          <a:p>
            <a:fld id="{AA6B35FF-A7DD-4BEA-B68C-2EC7FFFF183B}" type="slidenum">
              <a:rPr lang="en-IN" smtClean="0"/>
              <a:t>‹#›</a:t>
            </a:fld>
            <a:endParaRPr lang="en-IN"/>
          </a:p>
        </p:txBody>
      </p:sp>
    </p:spTree>
    <p:extLst>
      <p:ext uri="{BB962C8B-B14F-4D97-AF65-F5344CB8AC3E}">
        <p14:creationId xmlns:p14="http://schemas.microsoft.com/office/powerpoint/2010/main" val="6791078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C72111-5A28-3031-FA4E-FECD1468D7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C0D495-20D0-5BD3-E82E-16CB7F3123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B0E192-7D7E-FC86-BD81-F62E060E91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D56D77-E087-49B0-8F15-7C6F25930B27}" type="datetimeFigureOut">
              <a:rPr lang="en-IN" smtClean="0"/>
              <a:t>13/04/25</a:t>
            </a:fld>
            <a:endParaRPr lang="en-IN"/>
          </a:p>
        </p:txBody>
      </p:sp>
      <p:sp>
        <p:nvSpPr>
          <p:cNvPr id="5" name="Footer Placeholder 4">
            <a:extLst>
              <a:ext uri="{FF2B5EF4-FFF2-40B4-BE49-F238E27FC236}">
                <a16:creationId xmlns:a16="http://schemas.microsoft.com/office/drawing/2014/main" id="{84AF42C0-A650-AA15-C023-F989FA7ED5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E70F9B9-34A9-1ED6-394D-8DB7A1F6F1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6B35FF-A7DD-4BEA-B68C-2EC7FFFF183B}" type="slidenum">
              <a:rPr lang="en-IN" smtClean="0"/>
              <a:t>‹#›</a:t>
            </a:fld>
            <a:endParaRPr lang="en-IN"/>
          </a:p>
        </p:txBody>
      </p:sp>
    </p:spTree>
    <p:extLst>
      <p:ext uri="{BB962C8B-B14F-4D97-AF65-F5344CB8AC3E}">
        <p14:creationId xmlns:p14="http://schemas.microsoft.com/office/powerpoint/2010/main" val="9892269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microsoft.com/office/2007/relationships/hdphoto" Target="../media/hdphoto1.wdp"/><Relationship Id="rId5" Type="http://schemas.openxmlformats.org/officeDocument/2006/relationships/image" Target="../media/image5.png"/><Relationship Id="rId6" Type="http://schemas.microsoft.com/office/2007/relationships/hdphoto" Target="../media/hdphoto2.wdp"/><Relationship Id="rId7"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microsoft.com/office/2007/relationships/hdphoto" Target="../media/hdphoto1.wdp"/><Relationship Id="rId5" Type="http://schemas.openxmlformats.org/officeDocument/2006/relationships/image" Target="../media/image6.png"/><Relationship Id="rId6" Type="http://schemas.openxmlformats.org/officeDocument/2006/relationships/image" Target="../media/image5.png"/><Relationship Id="rId7" Type="http://schemas.microsoft.com/office/2007/relationships/hdphoto" Target="../media/hdphoto2.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microsoft.com/office/2007/relationships/hdphoto" Target="../media/hdphoto1.wdp"/><Relationship Id="rId4" Type="http://schemas.openxmlformats.org/officeDocument/2006/relationships/image" Target="../media/image6.png"/><Relationship Id="rId5" Type="http://schemas.openxmlformats.org/officeDocument/2006/relationships/image" Target="../media/image5.png"/><Relationship Id="rId6" Type="http://schemas.microsoft.com/office/2007/relationships/hdphoto" Target="../media/hdphoto2.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microsoft.com/office/2007/relationships/hdphoto" Target="../media/hdphoto1.wdp"/><Relationship Id="rId5" Type="http://schemas.openxmlformats.org/officeDocument/2006/relationships/image" Target="../media/image6.png"/><Relationship Id="rId6" Type="http://schemas.openxmlformats.org/officeDocument/2006/relationships/image" Target="../media/image5.png"/><Relationship Id="rId7" Type="http://schemas.microsoft.com/office/2007/relationships/hdphoto" Target="../media/hdphoto2.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microsoft.com/office/2007/relationships/hdphoto" Target="../media/hdphoto1.wdp"/><Relationship Id="rId5" Type="http://schemas.openxmlformats.org/officeDocument/2006/relationships/image" Target="../media/image6.png"/><Relationship Id="rId6" Type="http://schemas.openxmlformats.org/officeDocument/2006/relationships/image" Target="../media/image5.png"/><Relationship Id="rId7" Type="http://schemas.microsoft.com/office/2007/relationships/hdphoto" Target="../media/hdphoto2.wd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microsoft.com/office/2007/relationships/hdphoto" Target="../media/hdphoto1.wdp"/><Relationship Id="rId5" Type="http://schemas.openxmlformats.org/officeDocument/2006/relationships/image" Target="../media/image6.png"/><Relationship Id="rId6" Type="http://schemas.openxmlformats.org/officeDocument/2006/relationships/image" Target="../media/image5.png"/><Relationship Id="rId7"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6DFC5CE3-F652-D97E-4577-DB20EF232FC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6EA1949-F4F2-2DD0-0591-D19F5DF3CC46}"/>
              </a:ext>
            </a:extLst>
          </p:cNvPr>
          <p:cNvSpPr/>
          <p:nvPr/>
        </p:nvSpPr>
        <p:spPr>
          <a:xfrm>
            <a:off x="0" y="0"/>
            <a:ext cx="12192000" cy="7182658"/>
          </a:xfrm>
          <a:prstGeom prst="rect">
            <a:avLst/>
          </a:prstGeom>
          <a:solidFill>
            <a:srgbClr val="033722">
              <a:alpha val="92941"/>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BF4643AB-D61C-2ABC-E9E7-2B5D6DBB6F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755" y="0"/>
            <a:ext cx="10858490" cy="7182658"/>
          </a:xfrm>
          <a:prstGeom prst="rect">
            <a:avLst/>
          </a:prstGeom>
        </p:spPr>
      </p:pic>
    </p:spTree>
    <p:extLst>
      <p:ext uri="{BB962C8B-B14F-4D97-AF65-F5344CB8AC3E}">
        <p14:creationId xmlns:p14="http://schemas.microsoft.com/office/powerpoint/2010/main" val="3837837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81EB86FC-C10F-1D3B-0475-71201563761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0FD804B-0F65-AFE3-666D-E6E6AA7D9C8B}"/>
              </a:ext>
            </a:extLst>
          </p:cNvPr>
          <p:cNvSpPr/>
          <p:nvPr/>
        </p:nvSpPr>
        <p:spPr>
          <a:xfrm>
            <a:off x="0" y="0"/>
            <a:ext cx="12192000" cy="7182658"/>
          </a:xfrm>
          <a:prstGeom prst="rect">
            <a:avLst/>
          </a:prstGeom>
          <a:solidFill>
            <a:srgbClr val="033722">
              <a:alpha val="92941"/>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E0755586-DCD4-551F-0F0E-239159D5E077}"/>
              </a:ext>
            </a:extLst>
          </p:cNvPr>
          <p:cNvPicPr>
            <a:picLocks noChangeAspect="1"/>
          </p:cNvPicPr>
          <p:nvPr/>
        </p:nvPicPr>
        <p:blipFill>
          <a:blip r:embed="rId2"/>
          <a:stretch>
            <a:fillRect/>
          </a:stretch>
        </p:blipFill>
        <p:spPr>
          <a:xfrm>
            <a:off x="664902" y="0"/>
            <a:ext cx="10862195" cy="7182658"/>
          </a:xfrm>
          <a:prstGeom prst="rect">
            <a:avLst/>
          </a:prstGeom>
        </p:spPr>
      </p:pic>
    </p:spTree>
    <p:extLst>
      <p:ext uri="{BB962C8B-B14F-4D97-AF65-F5344CB8AC3E}">
        <p14:creationId xmlns:p14="http://schemas.microsoft.com/office/powerpoint/2010/main" val="3571852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95ADAA-85AF-41C3-3DDA-E0270B0ACA9F}"/>
              </a:ext>
            </a:extLst>
          </p:cNvPr>
          <p:cNvPicPr>
            <a:picLocks noChangeAspect="1"/>
          </p:cNvPicPr>
          <p:nvPr/>
        </p:nvPicPr>
        <p:blipFill>
          <a:blip r:embed="rId2"/>
          <a:stretch>
            <a:fillRect/>
          </a:stretch>
        </p:blipFill>
        <p:spPr>
          <a:xfrm>
            <a:off x="0" y="-13802"/>
            <a:ext cx="12192000" cy="7182658"/>
          </a:xfrm>
          <a:prstGeom prst="rect">
            <a:avLst/>
          </a:prstGeom>
        </p:spPr>
      </p:pic>
      <p:sp>
        <p:nvSpPr>
          <p:cNvPr id="6" name="Rectangle 5">
            <a:extLst>
              <a:ext uri="{FF2B5EF4-FFF2-40B4-BE49-F238E27FC236}">
                <a16:creationId xmlns:a16="http://schemas.microsoft.com/office/drawing/2014/main" id="{2E4D7F37-9F7A-844D-A5E6-A166B7C2C7A0}"/>
              </a:ext>
            </a:extLst>
          </p:cNvPr>
          <p:cNvSpPr/>
          <p:nvPr/>
        </p:nvSpPr>
        <p:spPr>
          <a:xfrm>
            <a:off x="0" y="-13802"/>
            <a:ext cx="12192000" cy="7182658"/>
          </a:xfrm>
          <a:prstGeom prst="rect">
            <a:avLst/>
          </a:prstGeom>
          <a:solidFill>
            <a:srgbClr val="033722">
              <a:alpha val="92941"/>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2">
            <a:extLst>
              <a:ext uri="{FF2B5EF4-FFF2-40B4-BE49-F238E27FC236}">
                <a16:creationId xmlns:a16="http://schemas.microsoft.com/office/drawing/2014/main" id="{EB704DC5-8E02-F917-E44C-45EC08DA4D2D}"/>
              </a:ext>
            </a:extLst>
          </p:cNvPr>
          <p:cNvPicPr>
            <a:picLocks noChangeAspect="1" noChangeArrowheads="1"/>
          </p:cNvPicPr>
          <p:nvPr/>
        </p:nvPicPr>
        <p:blipFill>
          <a:blip r:embed="rId3">
            <a:duotone>
              <a:schemeClr val="accent4">
                <a:shade val="45000"/>
                <a:satMod val="135000"/>
              </a:schemeClr>
              <a:prstClr val="white"/>
            </a:duotone>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rcRect/>
          <a:stretch>
            <a:fillRect/>
          </a:stretch>
        </p:blipFill>
        <p:spPr bwMode="auto">
          <a:xfrm>
            <a:off x="262829" y="121757"/>
            <a:ext cx="659012" cy="65901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C58E528D-2892-6A45-4C24-B8227F7A5A78}"/>
              </a:ext>
            </a:extLst>
          </p:cNvPr>
          <p:cNvPicPr>
            <a:picLocks noChangeAspect="1"/>
          </p:cNvPicPr>
          <p:nvPr/>
        </p:nvPicPr>
        <p:blipFill>
          <a:blip r:embed="rId5">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tretch>
            <a:fillRect/>
          </a:stretch>
        </p:blipFill>
        <p:spPr>
          <a:xfrm>
            <a:off x="4630340" y="-1008460"/>
            <a:ext cx="2931320" cy="2931320"/>
          </a:xfrm>
          <a:prstGeom prst="rect">
            <a:avLst/>
          </a:prstGeom>
        </p:spPr>
      </p:pic>
      <p:sp>
        <p:nvSpPr>
          <p:cNvPr id="15" name="TextBox 2">
            <a:extLst>
              <a:ext uri="{FF2B5EF4-FFF2-40B4-BE49-F238E27FC236}">
                <a16:creationId xmlns:a16="http://schemas.microsoft.com/office/drawing/2014/main" id="{29587701-AF85-1F14-A092-A0912960C168}"/>
              </a:ext>
            </a:extLst>
          </p:cNvPr>
          <p:cNvSpPr txBox="1"/>
          <p:nvPr/>
        </p:nvSpPr>
        <p:spPr>
          <a:xfrm>
            <a:off x="371473" y="1051738"/>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1800" b="1" dirty="0">
                <a:solidFill>
                  <a:srgbClr val="FFFFFF"/>
                </a:solidFill>
                <a:latin typeface="Calibri" panose="020F0704030504030204" pitchFamily="34" charset="0"/>
                <a:ea typeface="Segoe UI Black" panose="020B0A02040204020203" pitchFamily="34" charset="0"/>
              </a:rPr>
              <a:t>STEPS IN PROJECT</a:t>
            </a:r>
          </a:p>
        </p:txBody>
      </p:sp>
      <p:sp>
        <p:nvSpPr>
          <p:cNvPr id="16" name="Rectangle 2">
            <a:extLst>
              <a:ext uri="{FF2B5EF4-FFF2-40B4-BE49-F238E27FC236}">
                <a16:creationId xmlns:a16="http://schemas.microsoft.com/office/drawing/2014/main" id="{DDC72388-B144-F944-4425-0C3624835762}"/>
              </a:ext>
            </a:extLst>
          </p:cNvPr>
          <p:cNvSpPr>
            <a:spLocks noChangeArrowheads="1"/>
          </p:cNvSpPr>
          <p:nvPr/>
        </p:nvSpPr>
        <p:spPr bwMode="auto">
          <a:xfrm>
            <a:off x="592335" y="1635145"/>
            <a:ext cx="7896227"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1" i="0" u="none" strike="noStrike" cap="none" normalizeH="0" baseline="0" dirty="0" sz="1800">
                <a:ln>
                  <a:noFill/>
                </a:ln>
                <a:solidFill>
                  <a:srgbClr val="FFFFFF"/>
                </a:solidFill>
                <a:effectLst/>
                <a:latin typeface="Calibri" panose="020B0604020202020204" pitchFamily="34" charset="0"/>
              </a:rPr>
              <a:t>Requirement Gathering Business Requirements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b="1" dirty="0" sz="1800">
                <a:solidFill>
                  <a:srgbClr val="FFFFFF"/>
                </a:solidFill>
                <a:latin typeface="Calibri" panose="020B0604020202020204" pitchFamily="34" charset="0"/>
              </a:rPr>
              <a:t>Data Walkthrough</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b="1" dirty="0" sz="1800">
                <a:solidFill>
                  <a:srgbClr val="FFFFFF"/>
                </a:solidFill>
                <a:latin typeface="Calibri" panose="020B0604020202020204" pitchFamily="34" charset="0"/>
              </a:rPr>
              <a:t>Data Connection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1" i="0" u="none" strike="noStrike" cap="none" normalizeH="0" baseline="0" dirty="0" sz="1800">
                <a:ln>
                  <a:noFill/>
                </a:ln>
                <a:solidFill>
                  <a:srgbClr val="FFFFFF"/>
                </a:solidFill>
                <a:effectLst/>
                <a:latin typeface="Calibri" panose="020B0604020202020204" pitchFamily="34" charset="0"/>
              </a:rPr>
              <a:t>Data Cleaning  Quality Check</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b="1" dirty="0" sz="1800">
                <a:solidFill>
                  <a:srgbClr val="FFFFFF"/>
                </a:solidFill>
                <a:latin typeface="Calibri" panose="020B0604020202020204" pitchFamily="34" charset="0"/>
              </a:rPr>
              <a:t>Data Modeling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1" i="0" u="none" strike="noStrike" cap="none" normalizeH="0" baseline="0" dirty="0" sz="1800">
                <a:ln>
                  <a:noFill/>
                </a:ln>
                <a:solidFill>
                  <a:srgbClr val="FFFFFF"/>
                </a:solidFill>
                <a:effectLst/>
                <a:latin typeface="Calibri" panose="020B0604020202020204" pitchFamily="34" charset="0"/>
              </a:rPr>
              <a:t>Data Processing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b="1" dirty="0" sz="1800">
                <a:solidFill>
                  <a:srgbClr val="FFFFFF"/>
                </a:solidFill>
                <a:latin typeface="Calibri" panose="020B0604020202020204" pitchFamily="34" charset="0"/>
              </a:rPr>
              <a:t>DAX Calculations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1" i="0" u="none" strike="noStrike" cap="none" normalizeH="0" baseline="0" dirty="0" sz="1800">
                <a:ln>
                  <a:noFill/>
                </a:ln>
                <a:solidFill>
                  <a:srgbClr val="FFFFFF"/>
                </a:solidFill>
                <a:effectLst/>
                <a:latin typeface="Calibri" panose="020B0604020202020204" pitchFamily="34" charset="0"/>
              </a:rPr>
              <a:t>Dashboard Lay outing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b="1" dirty="0" sz="1800">
                <a:solidFill>
                  <a:srgbClr val="FFFFFF"/>
                </a:solidFill>
                <a:latin typeface="Calibri" panose="020B0604020202020204" pitchFamily="34" charset="0"/>
              </a:rPr>
              <a:t>Charts Development and Formatting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1" i="0" u="none" strike="noStrike" cap="none" normalizeH="0" baseline="0" dirty="0" sz="1800">
                <a:ln>
                  <a:noFill/>
                </a:ln>
                <a:solidFill>
                  <a:srgbClr val="FFFFFF"/>
                </a:solidFill>
                <a:effectLst/>
                <a:latin typeface="Calibri" panose="020B0604020202020204" pitchFamily="34" charset="0"/>
              </a:rPr>
              <a:t>Dashboard  Report Development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b="1" dirty="0" sz="1800">
                <a:solidFill>
                  <a:srgbClr val="FFFFFF"/>
                </a:solidFill>
                <a:latin typeface="Calibri" panose="020B0604020202020204" pitchFamily="34" charset="0"/>
              </a:rPr>
              <a:t>Insights Generation</a:t>
            </a:r>
          </a:p>
        </p:txBody>
      </p:sp>
      <p:pic>
        <p:nvPicPr>
          <p:cNvPr id="19" name="Picture 4" descr="Power BI - Udemy Business">
            <a:extLst>
              <a:ext uri="{FF2B5EF4-FFF2-40B4-BE49-F238E27FC236}">
                <a16:creationId xmlns:a16="http://schemas.microsoft.com/office/drawing/2014/main" id="{483A8DD2-F302-403A-1E5C-2577BB2CCC26}"/>
              </a:ext>
            </a:extLst>
          </p:cNvPr>
          <p:cNvPicPr>
            <a:picLocks noChangeAspect="1" noChangeArrowheads="1"/>
          </p:cNvPicPr>
          <p:nvPr/>
        </p:nvPicPr>
        <p:blipFill>
          <a:blip r:embed="rId7">
            <a:lum bright="70000" contrast="-70000"/>
            <a:extLst>
              <a:ext uri="{28A0092B-C50C-407E-A947-70E740481C1C}">
                <a14:useLocalDpi xmlns:a14="http://schemas.microsoft.com/office/drawing/2010/main" val="0"/>
              </a:ext>
            </a:extLst>
          </a:blip>
          <a:srcRect/>
          <a:stretch>
            <a:fillRect/>
          </a:stretch>
        </p:blipFill>
        <p:spPr bwMode="auto">
          <a:xfrm>
            <a:off x="9604254" y="6302082"/>
            <a:ext cx="2457455" cy="620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185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0921E3D0-59FF-FC4F-3B45-5C9A6CFF2AF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64ACCE8-21A4-AFB9-53F0-3703BCFE91BD}"/>
              </a:ext>
            </a:extLst>
          </p:cNvPr>
          <p:cNvSpPr/>
          <p:nvPr/>
        </p:nvSpPr>
        <p:spPr>
          <a:xfrm>
            <a:off x="0" y="0"/>
            <a:ext cx="12192000" cy="7182658"/>
          </a:xfrm>
          <a:prstGeom prst="rect">
            <a:avLst/>
          </a:prstGeom>
          <a:solidFill>
            <a:srgbClr val="033722">
              <a:alpha val="92941"/>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9" name="Picture 2">
            <a:extLst>
              <a:ext uri="{FF2B5EF4-FFF2-40B4-BE49-F238E27FC236}">
                <a16:creationId xmlns:a16="http://schemas.microsoft.com/office/drawing/2014/main" id="{BC256FD2-7FDC-2633-90F9-2F276E23D8E4}"/>
              </a:ext>
            </a:extLst>
          </p:cNvPr>
          <p:cNvPicPr>
            <a:picLocks noChangeAspect="1" noChangeArrowheads="1"/>
          </p:cNvPicPr>
          <p:nvPr/>
        </p:nvPicPr>
        <p:blipFill>
          <a:blip r:embed="rId3">
            <a:duotone>
              <a:schemeClr val="accent4">
                <a:shade val="45000"/>
                <a:satMod val="135000"/>
              </a:schemeClr>
              <a:prstClr val="white"/>
            </a:duotone>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rcRect/>
          <a:stretch>
            <a:fillRect/>
          </a:stretch>
        </p:blipFill>
        <p:spPr bwMode="auto">
          <a:xfrm>
            <a:off x="262829" y="121757"/>
            <a:ext cx="659012" cy="65901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Power BI - Udemy Business">
            <a:extLst>
              <a:ext uri="{FF2B5EF4-FFF2-40B4-BE49-F238E27FC236}">
                <a16:creationId xmlns:a16="http://schemas.microsoft.com/office/drawing/2014/main" id="{CBD2DD2D-CE91-5801-6F91-F441320FE6D9}"/>
              </a:ext>
            </a:extLst>
          </p:cNvPr>
          <p:cNvPicPr>
            <a:picLocks noChangeAspect="1" noChangeArrowheads="1"/>
          </p:cNvPicPr>
          <p:nvPr/>
        </p:nvPicPr>
        <p:blipFill>
          <a:blip r:embed="rId5">
            <a:lum bright="70000" contrast="-70000"/>
            <a:extLst>
              <a:ext uri="{28A0092B-C50C-407E-A947-70E740481C1C}">
                <a14:useLocalDpi xmlns:a14="http://schemas.microsoft.com/office/drawing/2010/main" val="0"/>
              </a:ext>
            </a:extLst>
          </a:blip>
          <a:srcRect/>
          <a:stretch>
            <a:fillRect/>
          </a:stretch>
        </p:blipFill>
        <p:spPr bwMode="auto">
          <a:xfrm>
            <a:off x="9604254" y="6302082"/>
            <a:ext cx="2457455" cy="6208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AA13DFD3-6C87-DF81-E279-293F02B5D29E}"/>
              </a:ext>
            </a:extLst>
          </p:cNvPr>
          <p:cNvSpPr txBox="1"/>
          <p:nvPr/>
        </p:nvSpPr>
        <p:spPr>
          <a:xfrm>
            <a:off x="371473" y="1028701"/>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1800" b="1" dirty="0">
                <a:solidFill>
                  <a:srgbClr val="FFFFFF"/>
                </a:solidFill>
                <a:latin typeface="Calibri" panose="020F0704030504030204" pitchFamily="34" charset="0"/>
                <a:ea typeface="Segoe UI Black" panose="020B0A02040204020203" pitchFamily="34" charset="0"/>
              </a:rPr>
              <a:t>BUSINESS REQUIREMENT</a:t>
            </a:r>
          </a:p>
        </p:txBody>
      </p:sp>
      <p:sp>
        <p:nvSpPr>
          <p:cNvPr id="3" name="TextBox 2">
            <a:extLst>
              <a:ext uri="{FF2B5EF4-FFF2-40B4-BE49-F238E27FC236}">
                <a16:creationId xmlns:a16="http://schemas.microsoft.com/office/drawing/2014/main" id="{3A74B9A8-E395-91E3-3ABA-42F6B7C96E87}"/>
              </a:ext>
            </a:extLst>
          </p:cNvPr>
          <p:cNvSpPr txBox="1"/>
          <p:nvPr/>
        </p:nvSpPr>
        <p:spPr>
          <a:xfrm>
            <a:off x="390524" y="1587238"/>
            <a:ext cx="11296651" cy="646331"/>
          </a:xfrm>
          <a:prstGeom prst="rect">
            <a:avLst/>
          </a:prstGeom>
          <a:noFill/>
        </p:spPr>
        <p:txBody>
          <a:bodyPr wrap="square" rtlCol="0">
            <a:spAutoFit/>
          </a:bodyPr>
          <a:lstStyle/>
          <a:p>
            <a:r>
              <a:rPr lang="en-IN" b="1" dirty="0" sz="1800">
                <a:solidFill>
                  <a:srgbClr val="FFFFFF"/>
                </a:solidFill>
                <a:latin typeface="Calibri"/>
              </a:rPr>
              <a:t>In todays digital music era, understanding listening patterns is crucial for both users and streaming platforms. This analysis focuses on Spotify Albums Data, providing insights into user engagement with albums over time.</a:t>
            </a:r>
          </a:p>
        </p:txBody>
      </p:sp>
      <p:pic>
        <p:nvPicPr>
          <p:cNvPr id="4" name="Picture 3">
            <a:extLst>
              <a:ext uri="{FF2B5EF4-FFF2-40B4-BE49-F238E27FC236}">
                <a16:creationId xmlns:a16="http://schemas.microsoft.com/office/drawing/2014/main" id="{F837A861-D8E1-8337-FEB7-59E62049654E}"/>
              </a:ext>
            </a:extLst>
          </p:cNvPr>
          <p:cNvPicPr>
            <a:picLocks noChangeAspect="1"/>
          </p:cNvPicPr>
          <p:nvPr/>
        </p:nvPicPr>
        <p:blipFill>
          <a:blip r:embed="rId6">
            <a:extLst>
              <a:ext uri="{BEBA8EAE-BF5A-486C-A8C5-ECC9F3942E4B}">
                <a14:imgProps xmlns:a14="http://schemas.microsoft.com/office/drawing/2010/main">
                  <a14:imgLayer r:embed="rId7">
                    <a14:imgEffect>
                      <a14:saturation sat="400000"/>
                    </a14:imgEffect>
                  </a14:imgLayer>
                </a14:imgProps>
              </a:ext>
              <a:ext uri="{28A0092B-C50C-407E-A947-70E740481C1C}">
                <a14:useLocalDpi xmlns:a14="http://schemas.microsoft.com/office/drawing/2010/main" val="0"/>
              </a:ext>
            </a:extLst>
          </a:blip>
          <a:stretch>
            <a:fillRect/>
          </a:stretch>
        </p:blipFill>
        <p:spPr>
          <a:xfrm>
            <a:off x="4630340" y="-1008460"/>
            <a:ext cx="2931320" cy="2931320"/>
          </a:xfrm>
          <a:prstGeom prst="rect">
            <a:avLst/>
          </a:prstGeom>
        </p:spPr>
      </p:pic>
      <p:sp>
        <p:nvSpPr>
          <p:cNvPr id="7" name="TextBox 6">
            <a:extLst>
              <a:ext uri="{FF2B5EF4-FFF2-40B4-BE49-F238E27FC236}">
                <a16:creationId xmlns:a16="http://schemas.microsoft.com/office/drawing/2014/main" id="{21A5A4A5-F9DD-D8BE-D769-45C72052BB66}"/>
              </a:ext>
            </a:extLst>
          </p:cNvPr>
          <p:cNvSpPr txBox="1"/>
          <p:nvPr/>
        </p:nvSpPr>
        <p:spPr>
          <a:xfrm>
            <a:off x="390524" y="2722095"/>
            <a:ext cx="11296651" cy="3788858"/>
          </a:xfrm>
          <a:prstGeom prst="rect">
            <a:avLst/>
          </a:prstGeom>
          <a:noFill/>
        </p:spPr>
        <p:txBody>
          <a:bodyPr wrap="square" rtlCol="0">
            <a:spAutoFit/>
          </a:bodyPr>
          <a:lstStyle/>
          <a:p>
            <a:pPr>
              <a:lnSpc>
                <a:spcPct val="150000"/>
              </a:lnSpc>
            </a:pPr>
            <a:r>
              <a:rPr lang="en-US" dirty="0" sz="1800">
                <a:solidFill>
                  <a:srgbClr val="FFFFFF"/>
                </a:solidFill>
                <a:latin typeface="Calibri"/>
              </a:rPr>
              <a:t> </a:t>
            </a:r>
            <a:r>
              <a:rPr lang="en-US" b="1" dirty="0" sz="1800">
                <a:solidFill>
                  <a:srgbClr val="FFFFFF"/>
                </a:solidFill>
                <a:latin typeface="Calibri"/>
              </a:rPr>
              <a:t>Total Albums Played Over Time</a:t>
            </a:r>
            <a:r>
              <a:rPr lang="en-US" dirty="0" sz="1800">
                <a:solidFill>
                  <a:srgbClr val="FFFFFF"/>
                </a:solidFill>
                <a:latin typeface="Calibri"/>
              </a:rPr>
              <a:t> </a:t>
            </a:r>
            <a:r>
              <a:rPr lang="en-US" dirty="0" sz="1800">
                <a:solidFill>
                  <a:srgbClr val="FFFFFF"/>
                </a:solidFill>
                <a:latin typeface="Calibri"/>
              </a:rPr>
              <a:t> Track how album listening trends change over months and years.</a:t>
            </a:r>
            <a:br>
              <a:rPr lang="en-US" dirty="0">
                <a:solidFill>
                  <a:schemeClr val="accent5">
                    <a:lumMod val="40000"/>
                    <a:lumOff val="60000"/>
                  </a:schemeClr>
                </a:solidFill>
              </a:rPr>
            </a:br>
            <a:r>
              <a:rPr lang="en-US" dirty="0" sz="1800">
                <a:solidFill>
                  <a:srgbClr val="FFFFFF"/>
                </a:solidFill>
                <a:latin typeface="Calibri"/>
              </a:rPr>
              <a:t> </a:t>
            </a:r>
            <a:r>
              <a:rPr lang="en-US" b="1" dirty="0" sz="1800">
                <a:solidFill>
                  <a:srgbClr val="FFFFFF"/>
                </a:solidFill>
                <a:latin typeface="Calibri"/>
              </a:rPr>
              <a:t>Number of Albums Listened by Year</a:t>
            </a:r>
            <a:r>
              <a:rPr lang="en-US" dirty="0" sz="1800">
                <a:solidFill>
                  <a:srgbClr val="FFFFFF"/>
                </a:solidFill>
                <a:latin typeface="Calibri"/>
              </a:rPr>
              <a:t> </a:t>
            </a:r>
            <a:r>
              <a:rPr lang="en-US" dirty="0" sz="1800">
                <a:solidFill>
                  <a:srgbClr val="FFFFFF"/>
                </a:solidFill>
                <a:latin typeface="Calibri"/>
              </a:rPr>
              <a:t> Identify annual listening habits and volume (Find the Min and Max Albums in the view).</a:t>
            </a:r>
          </a:p>
          <a:p>
            <a:pPr>
              <a:lnSpc>
                <a:spcPct val="150000"/>
              </a:lnSpc>
            </a:pPr>
            <a:r>
              <a:rPr lang="en-IN" dirty="0" sz="1800">
                <a:solidFill>
                  <a:srgbClr val="FFFFFF"/>
                </a:solidFill>
                <a:latin typeface="Calibri"/>
              </a:rPr>
              <a:t/>
            </a:r>
            <a:r>
              <a:rPr lang="en-US" b="1" dirty="0" sz="1800">
                <a:solidFill>
                  <a:srgbClr val="FFFFFF"/>
                </a:solidFill>
                <a:latin typeface="Calibri"/>
              </a:rPr>
              <a:t>Albums Played on Weekday  Weekend  </a:t>
            </a:r>
            <a:r>
              <a:rPr lang="en-US" dirty="0" sz="1800">
                <a:solidFill>
                  <a:srgbClr val="FFFFFF"/>
                </a:solidFill>
                <a:latin typeface="Calibri"/>
              </a:rPr>
              <a:t>Identify the Pattern of music listening on weekdays and weekends.</a:t>
            </a:r>
            <a:br>
              <a:rPr lang="en-US" dirty="0">
                <a:solidFill>
                  <a:schemeClr val="accent5">
                    <a:lumMod val="40000"/>
                    <a:lumOff val="60000"/>
                  </a:schemeClr>
                </a:solidFill>
              </a:rPr>
            </a:br>
            <a:r>
              <a:rPr lang="en-US" dirty="0" sz="1800">
                <a:solidFill>
                  <a:srgbClr val="FFFFFF"/>
                </a:solidFill>
                <a:latin typeface="Calibri"/>
              </a:rPr>
              <a:t> </a:t>
            </a:r>
            <a:r>
              <a:rPr lang="en-US" b="1" dirty="0" sz="1800">
                <a:solidFill>
                  <a:srgbClr val="FFFFFF"/>
                </a:solidFill>
                <a:latin typeface="Calibri"/>
              </a:rPr>
              <a:t>Top 5 Albums</a:t>
            </a:r>
            <a:r>
              <a:rPr lang="en-US" dirty="0" sz="1800">
                <a:solidFill>
                  <a:srgbClr val="FFFFFF"/>
                </a:solidFill>
                <a:latin typeface="Calibri"/>
              </a:rPr>
              <a:t> </a:t>
            </a:r>
            <a:r>
              <a:rPr lang="en-US" dirty="0" sz="1800">
                <a:solidFill>
                  <a:srgbClr val="FFFFFF"/>
                </a:solidFill>
                <a:latin typeface="Calibri"/>
              </a:rPr>
              <a:t> Identify the most played albums based on listening frequency.</a:t>
            </a:r>
          </a:p>
          <a:p>
            <a:pPr>
              <a:lnSpc>
                <a:spcPct val="150000"/>
              </a:lnSpc>
            </a:pPr>
            <a:r>
              <a:rPr lang="en-US" dirty="0" sz="1800">
                <a:solidFill>
                  <a:srgbClr val="FFFFFF"/>
                </a:solidFill>
                <a:latin typeface="Calibri"/>
              </a:rPr>
              <a:t> </a:t>
            </a:r>
            <a:r>
              <a:rPr lang="en-US" b="1" dirty="0" sz="1800">
                <a:solidFill>
                  <a:srgbClr val="FFFFFF"/>
                </a:solidFill>
                <a:latin typeface="Calibri"/>
              </a:rPr>
              <a:t>Latest Year vs Previous Year Analysis</a:t>
            </a:r>
            <a:r>
              <a:rPr lang="en-US" dirty="0" sz="1800">
                <a:solidFill>
                  <a:srgbClr val="FFFFFF"/>
                </a:solidFill>
                <a:latin typeface="Calibri"/>
              </a:rPr>
              <a:t> </a:t>
            </a:r>
            <a:r>
              <a:rPr lang="en-US" dirty="0" sz="1800">
                <a:solidFill>
                  <a:srgbClr val="FFFFFF"/>
                </a:solidFill>
                <a:latin typeface="Calibri"/>
              </a:rPr>
              <a:t> Compare album consumption between the latest and previous years, including:</a:t>
            </a:r>
          </a:p>
          <a:p>
            <a:pPr marL="800100" lvl="1" indent="-342900">
              <a:lnSpc>
                <a:spcPct val="150000"/>
              </a:lnSpc>
              <a:buFont typeface="Wingdings" panose="05000000000000000000" pitchFamily="2" charset="2"/>
              <a:buChar char="v"/>
            </a:pPr>
            <a:r>
              <a:rPr lang="en-US" b="1" dirty="0" sz="1800">
                <a:solidFill>
                  <a:srgbClr val="FFFFFF"/>
                </a:solidFill>
                <a:latin typeface="Calibri"/>
              </a:rPr>
              <a:t>LY (Latest Year) vs PY (Previous Year) Trends</a:t>
            </a:r>
            <a:endParaRPr lang="en-US" dirty="0">
              <a:solidFill>
                <a:schemeClr val="accent5">
                  <a:lumMod val="40000"/>
                  <a:lumOff val="60000"/>
                </a:schemeClr>
              </a:solidFill>
            </a:endParaRPr>
          </a:p>
          <a:p>
            <a:pPr marL="800100" lvl="1" indent="-342900">
              <a:lnSpc>
                <a:spcPct val="150000"/>
              </a:lnSpc>
              <a:buFont typeface="Wingdings" panose="05000000000000000000" pitchFamily="2" charset="2"/>
              <a:buChar char="v"/>
            </a:pPr>
            <a:r>
              <a:rPr lang="en-US" b="1" dirty="0" sz="1800">
                <a:solidFill>
                  <a:srgbClr val="FFFFFF"/>
                </a:solidFill>
                <a:latin typeface="Calibri"/>
              </a:rPr>
              <a:t>YoY (Year-over-Year) Growth Analysis</a:t>
            </a:r>
          </a:p>
        </p:txBody>
      </p:sp>
      <p:sp>
        <p:nvSpPr>
          <p:cNvPr id="11" name="TextBox 2">
            <a:extLst>
              <a:ext uri="{FF2B5EF4-FFF2-40B4-BE49-F238E27FC236}">
                <a16:creationId xmlns:a16="http://schemas.microsoft.com/office/drawing/2014/main" id="{E8B584F7-EEB2-BA73-D400-1486D9B44672}"/>
              </a:ext>
            </a:extLst>
          </p:cNvPr>
          <p:cNvSpPr txBox="1"/>
          <p:nvPr/>
        </p:nvSpPr>
        <p:spPr>
          <a:xfrm>
            <a:off x="390524" y="2235401"/>
            <a:ext cx="200977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1800" b="1" dirty="0">
                <a:solidFill>
                  <a:srgbClr val="FFFFFF"/>
                </a:solidFill>
                <a:latin typeface="Calibri" panose="04020705040A02060702" pitchFamily="82" charset="0"/>
                <a:ea typeface="Segoe UI Black" panose="020B0A02040204020203" pitchFamily="34" charset="0"/>
              </a:rPr>
              <a:t>ALBUMS</a:t>
            </a:r>
          </a:p>
        </p:txBody>
      </p:sp>
    </p:spTree>
    <p:extLst>
      <p:ext uri="{BB962C8B-B14F-4D97-AF65-F5344CB8AC3E}">
        <p14:creationId xmlns:p14="http://schemas.microsoft.com/office/powerpoint/2010/main" val="1162450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4BFFA4A6-7A52-3A84-3992-EB113CB8D2F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0EC62E5-8313-7694-2298-C120694A0433}"/>
              </a:ext>
            </a:extLst>
          </p:cNvPr>
          <p:cNvSpPr/>
          <p:nvPr/>
        </p:nvSpPr>
        <p:spPr>
          <a:xfrm>
            <a:off x="0" y="-324658"/>
            <a:ext cx="12192000" cy="7182658"/>
          </a:xfrm>
          <a:prstGeom prst="rect">
            <a:avLst/>
          </a:prstGeom>
          <a:solidFill>
            <a:srgbClr val="033722">
              <a:alpha val="92941"/>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2">
            <a:extLst>
              <a:ext uri="{FF2B5EF4-FFF2-40B4-BE49-F238E27FC236}">
                <a16:creationId xmlns:a16="http://schemas.microsoft.com/office/drawing/2014/main" id="{8BA70CC6-B7DA-5884-F55D-DEE76F53522A}"/>
              </a:ext>
            </a:extLst>
          </p:cNvPr>
          <p:cNvPicPr>
            <a:picLocks noChangeAspect="1" noChangeArrowheads="1"/>
          </p:cNvPicPr>
          <p:nvPr/>
        </p:nvPicPr>
        <p:blipFill>
          <a:blip r:embed="rId2">
            <a:duotone>
              <a:schemeClr val="accent4">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rcRect/>
          <a:stretch>
            <a:fillRect/>
          </a:stretch>
        </p:blipFill>
        <p:spPr bwMode="auto">
          <a:xfrm>
            <a:off x="262829" y="121757"/>
            <a:ext cx="659012" cy="65901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Power BI - Udemy Business">
            <a:extLst>
              <a:ext uri="{FF2B5EF4-FFF2-40B4-BE49-F238E27FC236}">
                <a16:creationId xmlns:a16="http://schemas.microsoft.com/office/drawing/2014/main" id="{0D7CB6CD-D533-7F55-A46A-94A64F8FA499}"/>
              </a:ext>
            </a:extLst>
          </p:cNvPr>
          <p:cNvPicPr>
            <a:picLocks noChangeAspect="1" noChangeArrowheads="1"/>
          </p:cNvPicPr>
          <p:nvPr/>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9604254" y="6302082"/>
            <a:ext cx="2457455" cy="6208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B726590B-AB6C-E743-C89B-C59D3CA2E43D}"/>
              </a:ext>
            </a:extLst>
          </p:cNvPr>
          <p:cNvSpPr txBox="1"/>
          <p:nvPr/>
        </p:nvSpPr>
        <p:spPr>
          <a:xfrm>
            <a:off x="371473" y="1028701"/>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1800" b="1" dirty="0">
                <a:solidFill>
                  <a:srgbClr val="FFFFFF"/>
                </a:solidFill>
                <a:latin typeface="Calibri" panose="020F0704030504030204" pitchFamily="34" charset="0"/>
                <a:ea typeface="Segoe UI Black" panose="020B0A02040204020203" pitchFamily="34" charset="0"/>
              </a:rPr>
              <a:t>BUSINESS REQUIREMENT</a:t>
            </a:r>
          </a:p>
        </p:txBody>
      </p:sp>
      <p:pic>
        <p:nvPicPr>
          <p:cNvPr id="4" name="Picture 3">
            <a:extLst>
              <a:ext uri="{FF2B5EF4-FFF2-40B4-BE49-F238E27FC236}">
                <a16:creationId xmlns:a16="http://schemas.microsoft.com/office/drawing/2014/main" id="{5531A90F-39F4-DA25-CAC6-15D1B2C5A1E0}"/>
              </a:ext>
            </a:extLst>
          </p:cNvPr>
          <p:cNvPicPr>
            <a:picLocks noChangeAspect="1"/>
          </p:cNvPicPr>
          <p:nvPr/>
        </p:nvPicPr>
        <p:blipFill>
          <a:blip r:embed="rId5">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tretch>
            <a:fillRect/>
          </a:stretch>
        </p:blipFill>
        <p:spPr>
          <a:xfrm>
            <a:off x="4573189" y="-1348353"/>
            <a:ext cx="2931320" cy="3145604"/>
          </a:xfrm>
          <a:prstGeom prst="rect">
            <a:avLst/>
          </a:prstGeom>
        </p:spPr>
      </p:pic>
      <p:sp>
        <p:nvSpPr>
          <p:cNvPr id="7" name="TextBox 6">
            <a:extLst>
              <a:ext uri="{FF2B5EF4-FFF2-40B4-BE49-F238E27FC236}">
                <a16:creationId xmlns:a16="http://schemas.microsoft.com/office/drawing/2014/main" id="{1892AFB0-2314-59D2-23B4-CA4880059586}"/>
              </a:ext>
            </a:extLst>
          </p:cNvPr>
          <p:cNvSpPr txBox="1"/>
          <p:nvPr/>
        </p:nvSpPr>
        <p:spPr>
          <a:xfrm>
            <a:off x="390524" y="2283945"/>
            <a:ext cx="11296651" cy="3788858"/>
          </a:xfrm>
          <a:prstGeom prst="rect">
            <a:avLst/>
          </a:prstGeom>
          <a:noFill/>
        </p:spPr>
        <p:txBody>
          <a:bodyPr wrap="square" rtlCol="0">
            <a:spAutoFit/>
          </a:bodyPr>
          <a:lstStyle/>
          <a:p>
            <a:pPr>
              <a:lnSpc>
                <a:spcPct val="150000"/>
              </a:lnSpc>
            </a:pPr>
            <a:r>
              <a:rPr lang="en-US" dirty="0" sz="1800">
                <a:solidFill>
                  <a:srgbClr val="FFFFFF"/>
                </a:solidFill>
                <a:latin typeface="Calibri"/>
              </a:rPr>
              <a:t> </a:t>
            </a:r>
            <a:r>
              <a:rPr lang="en-US" b="1" dirty="0" sz="1800">
                <a:solidFill>
                  <a:srgbClr val="FFFFFF"/>
                </a:solidFill>
                <a:latin typeface="Calibri"/>
              </a:rPr>
              <a:t>Total Artists Played Over Time</a:t>
            </a:r>
            <a:r>
              <a:rPr lang="en-US" dirty="0" sz="1800">
                <a:solidFill>
                  <a:srgbClr val="FFFFFF"/>
                </a:solidFill>
                <a:latin typeface="Calibri"/>
              </a:rPr>
              <a:t>  </a:t>
            </a:r>
            <a:r>
              <a:rPr lang="en-US" dirty="0" sz="1800">
                <a:solidFill>
                  <a:srgbClr val="FFFFFF"/>
                </a:solidFill>
                <a:latin typeface="Calibri"/>
              </a:rPr>
              <a:t>Track how artist listening trends evolve across months and years.</a:t>
            </a:r>
          </a:p>
          <a:p>
            <a:pPr>
              <a:lnSpc>
                <a:spcPct val="150000"/>
              </a:lnSpc>
            </a:pPr>
            <a:r>
              <a:rPr lang="en-US" dirty="0" sz="1800">
                <a:solidFill>
                  <a:srgbClr val="FFFFFF"/>
                </a:solidFill>
                <a:latin typeface="Calibri"/>
              </a:rPr>
              <a:t> </a:t>
            </a:r>
            <a:r>
              <a:rPr lang="en-US" b="1" dirty="0" sz="1800">
                <a:solidFill>
                  <a:srgbClr val="FFFFFF"/>
                </a:solidFill>
                <a:latin typeface="Calibri"/>
              </a:rPr>
              <a:t>Number of Artists Listened by Year</a:t>
            </a:r>
            <a:r>
              <a:rPr lang="en-US" dirty="0" sz="1800">
                <a:solidFill>
                  <a:srgbClr val="FFFFFF"/>
                </a:solidFill>
                <a:latin typeface="Calibri"/>
              </a:rPr>
              <a:t>  </a:t>
            </a:r>
            <a:r>
              <a:rPr lang="en-US" dirty="0" sz="1800">
                <a:solidFill>
                  <a:srgbClr val="FFFFFF"/>
                </a:solidFill>
                <a:latin typeface="Calibri"/>
              </a:rPr>
              <a:t>Identify annual listening habits and artist diversity.</a:t>
            </a:r>
            <a:r>
              <a:rPr lang="en-US" dirty="0" sz="1800">
                <a:solidFill>
                  <a:srgbClr val="FFFFFF"/>
                </a:solidFill>
                <a:latin typeface="Calibri"/>
              </a:rPr>
              <a:t> (Find the Min and Max Artists in the view).</a:t>
            </a:r>
          </a:p>
          <a:p>
            <a:pPr>
              <a:lnSpc>
                <a:spcPct val="150000"/>
              </a:lnSpc>
            </a:pPr>
            <a:r>
              <a:rPr lang="en-IN" dirty="0" sz="1800">
                <a:solidFill>
                  <a:srgbClr val="FFFFFF"/>
                </a:solidFill>
                <a:latin typeface="Calibri"/>
              </a:rPr>
              <a:t/>
            </a:r>
            <a:r>
              <a:rPr lang="en-US" b="1" dirty="0" sz="1800">
                <a:solidFill>
                  <a:srgbClr val="FFFFFF"/>
                </a:solidFill>
                <a:latin typeface="Calibri"/>
              </a:rPr>
              <a:t>Artists Played on Weekday  Weekend  </a:t>
            </a:r>
            <a:r>
              <a:rPr lang="en-US" dirty="0" sz="1800">
                <a:solidFill>
                  <a:srgbClr val="FFFFFF"/>
                </a:solidFill>
                <a:latin typeface="Calibri"/>
              </a:rPr>
              <a:t>Identify the Pattern of music listening on weekdays and weekends.</a:t>
            </a:r>
            <a:br>
              <a:rPr lang="en-US" dirty="0">
                <a:solidFill>
                  <a:schemeClr val="accent4">
                    <a:lumMod val="40000"/>
                    <a:lumOff val="60000"/>
                  </a:schemeClr>
                </a:solidFill>
              </a:rPr>
            </a:br>
            <a:r>
              <a:rPr lang="en-US" dirty="0" sz="1800">
                <a:solidFill>
                  <a:srgbClr val="FFFFFF"/>
                </a:solidFill>
                <a:latin typeface="Calibri"/>
              </a:rPr>
              <a:t> </a:t>
            </a:r>
            <a:r>
              <a:rPr lang="en-US" b="1" dirty="0" sz="1800">
                <a:solidFill>
                  <a:srgbClr val="FFFFFF"/>
                </a:solidFill>
                <a:latin typeface="Calibri"/>
              </a:rPr>
              <a:t>Top 5 Artists</a:t>
            </a:r>
            <a:r>
              <a:rPr lang="en-US" dirty="0" sz="1800">
                <a:solidFill>
                  <a:srgbClr val="FFFFFF"/>
                </a:solidFill>
                <a:latin typeface="Calibri"/>
              </a:rPr>
              <a:t> </a:t>
            </a:r>
            <a:r>
              <a:rPr lang="en-US" dirty="0" sz="1800">
                <a:solidFill>
                  <a:srgbClr val="FFFFFF"/>
                </a:solidFill>
                <a:latin typeface="Calibri"/>
              </a:rPr>
              <a:t> Identify the most played artists based on listening frequency.</a:t>
            </a:r>
          </a:p>
          <a:p>
            <a:pPr>
              <a:lnSpc>
                <a:spcPct val="150000"/>
              </a:lnSpc>
            </a:pPr>
            <a:r>
              <a:rPr lang="en-US" dirty="0" sz="1800">
                <a:solidFill>
                  <a:srgbClr val="FFFFFF"/>
                </a:solidFill>
                <a:latin typeface="Calibri"/>
              </a:rPr>
              <a:t> </a:t>
            </a:r>
            <a:r>
              <a:rPr lang="en-US" b="1" dirty="0" sz="1800">
                <a:solidFill>
                  <a:srgbClr val="FFFFFF"/>
                </a:solidFill>
                <a:latin typeface="Calibri"/>
              </a:rPr>
              <a:t>Latest Year vs Previous Year Analysis</a:t>
            </a:r>
            <a:r>
              <a:rPr lang="en-US" dirty="0" sz="1800">
                <a:solidFill>
                  <a:srgbClr val="FFFFFF"/>
                </a:solidFill>
                <a:latin typeface="Calibri"/>
              </a:rPr>
              <a:t>  </a:t>
            </a:r>
            <a:r>
              <a:rPr lang="en-US" dirty="0" sz="1800">
                <a:solidFill>
                  <a:srgbClr val="FFFFFF"/>
                </a:solidFill>
                <a:latin typeface="Calibri"/>
              </a:rPr>
              <a:t>Compare artist engagement between the latest and previous years, including:</a:t>
            </a:r>
          </a:p>
          <a:p>
            <a:pPr marL="800100" lvl="1" indent="-342900">
              <a:lnSpc>
                <a:spcPct val="150000"/>
              </a:lnSpc>
              <a:buFont typeface="Wingdings" panose="05000000000000000000" pitchFamily="2" charset="2"/>
              <a:buChar char="v"/>
            </a:pPr>
            <a:r>
              <a:rPr lang="en-US" b="1" dirty="0" sz="1800">
                <a:solidFill>
                  <a:srgbClr val="FFFFFF"/>
                </a:solidFill>
                <a:latin typeface="Calibri"/>
              </a:rPr>
              <a:t>LY (Latest Year) vs PY (Previous Year) Trends</a:t>
            </a:r>
            <a:endParaRPr lang="en-US" dirty="0">
              <a:solidFill>
                <a:schemeClr val="accent4">
                  <a:lumMod val="40000"/>
                  <a:lumOff val="60000"/>
                </a:schemeClr>
              </a:solidFill>
            </a:endParaRPr>
          </a:p>
          <a:p>
            <a:pPr marL="800100" lvl="1" indent="-342900">
              <a:lnSpc>
                <a:spcPct val="150000"/>
              </a:lnSpc>
              <a:buFont typeface="Wingdings" panose="05000000000000000000" pitchFamily="2" charset="2"/>
              <a:buChar char="v"/>
            </a:pPr>
            <a:r>
              <a:rPr lang="en-US" b="1" dirty="0" sz="1800">
                <a:solidFill>
                  <a:srgbClr val="FFFFFF"/>
                </a:solidFill>
                <a:latin typeface="Calibri"/>
              </a:rPr>
              <a:t>YoY (Year-over-Year) Growth Analysis</a:t>
            </a:r>
          </a:p>
        </p:txBody>
      </p:sp>
      <p:sp>
        <p:nvSpPr>
          <p:cNvPr id="11" name="TextBox 2">
            <a:extLst>
              <a:ext uri="{FF2B5EF4-FFF2-40B4-BE49-F238E27FC236}">
                <a16:creationId xmlns:a16="http://schemas.microsoft.com/office/drawing/2014/main" id="{5039711B-0987-257A-4C52-A7CC40B163C8}"/>
              </a:ext>
            </a:extLst>
          </p:cNvPr>
          <p:cNvSpPr txBox="1"/>
          <p:nvPr/>
        </p:nvSpPr>
        <p:spPr>
          <a:xfrm>
            <a:off x="390524" y="1797251"/>
            <a:ext cx="200977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1800" b="1" dirty="0">
                <a:solidFill>
                  <a:srgbClr val="FFFFFF"/>
                </a:solidFill>
                <a:latin typeface="Calibri" panose="04020705040A02060702" pitchFamily="82" charset="0"/>
                <a:ea typeface="Segoe UI Black" panose="020B0A02040204020203" pitchFamily="34" charset="0"/>
              </a:rPr>
              <a:t>ARTISTS</a:t>
            </a:r>
          </a:p>
        </p:txBody>
      </p:sp>
    </p:spTree>
    <p:extLst>
      <p:ext uri="{BB962C8B-B14F-4D97-AF65-F5344CB8AC3E}">
        <p14:creationId xmlns:p14="http://schemas.microsoft.com/office/powerpoint/2010/main" val="1056997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CF732EE1-E81B-793D-C38E-F54123E9729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12D3A2-E651-7F66-1C6F-594CC2541524}"/>
              </a:ext>
            </a:extLst>
          </p:cNvPr>
          <p:cNvPicPr>
            <a:picLocks noChangeAspect="1"/>
          </p:cNvPicPr>
          <p:nvPr/>
        </p:nvPicPr>
        <p:blipFill>
          <a:blip r:embed="rId2"/>
          <a:stretch>
            <a:fillRect/>
          </a:stretch>
        </p:blipFill>
        <p:spPr>
          <a:xfrm>
            <a:off x="0" y="-13802"/>
            <a:ext cx="12192000" cy="7182658"/>
          </a:xfrm>
          <a:prstGeom prst="rect">
            <a:avLst/>
          </a:prstGeom>
        </p:spPr>
      </p:pic>
      <p:sp>
        <p:nvSpPr>
          <p:cNvPr id="6" name="Rectangle 5">
            <a:extLst>
              <a:ext uri="{FF2B5EF4-FFF2-40B4-BE49-F238E27FC236}">
                <a16:creationId xmlns:a16="http://schemas.microsoft.com/office/drawing/2014/main" id="{B0AD6A66-F3FA-A786-8A1C-4A6C37742E57}"/>
              </a:ext>
            </a:extLst>
          </p:cNvPr>
          <p:cNvSpPr/>
          <p:nvPr/>
        </p:nvSpPr>
        <p:spPr>
          <a:xfrm>
            <a:off x="0" y="-13802"/>
            <a:ext cx="12192000" cy="7182658"/>
          </a:xfrm>
          <a:prstGeom prst="rect">
            <a:avLst/>
          </a:prstGeom>
          <a:solidFill>
            <a:srgbClr val="033722">
              <a:alpha val="92941"/>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2">
            <a:extLst>
              <a:ext uri="{FF2B5EF4-FFF2-40B4-BE49-F238E27FC236}">
                <a16:creationId xmlns:a16="http://schemas.microsoft.com/office/drawing/2014/main" id="{328504F4-B331-D6C4-0203-E97DAA28790C}"/>
              </a:ext>
            </a:extLst>
          </p:cNvPr>
          <p:cNvPicPr>
            <a:picLocks noChangeAspect="1" noChangeArrowheads="1"/>
          </p:cNvPicPr>
          <p:nvPr/>
        </p:nvPicPr>
        <p:blipFill>
          <a:blip r:embed="rId3">
            <a:duotone>
              <a:schemeClr val="accent4">
                <a:shade val="45000"/>
                <a:satMod val="135000"/>
              </a:schemeClr>
              <a:prstClr val="white"/>
            </a:duotone>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rcRect/>
          <a:stretch>
            <a:fillRect/>
          </a:stretch>
        </p:blipFill>
        <p:spPr bwMode="auto">
          <a:xfrm>
            <a:off x="262829" y="121757"/>
            <a:ext cx="659012" cy="65901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Power BI - Udemy Business">
            <a:extLst>
              <a:ext uri="{FF2B5EF4-FFF2-40B4-BE49-F238E27FC236}">
                <a16:creationId xmlns:a16="http://schemas.microsoft.com/office/drawing/2014/main" id="{F3093FF1-7258-A753-DE0B-8DD1831FC890}"/>
              </a:ext>
            </a:extLst>
          </p:cNvPr>
          <p:cNvPicPr>
            <a:picLocks noChangeAspect="1" noChangeArrowheads="1"/>
          </p:cNvPicPr>
          <p:nvPr/>
        </p:nvPicPr>
        <p:blipFill>
          <a:blip r:embed="rId5">
            <a:lum bright="70000" contrast="-70000"/>
            <a:extLst>
              <a:ext uri="{28A0092B-C50C-407E-A947-70E740481C1C}">
                <a14:useLocalDpi xmlns:a14="http://schemas.microsoft.com/office/drawing/2010/main" val="0"/>
              </a:ext>
            </a:extLst>
          </a:blip>
          <a:srcRect/>
          <a:stretch>
            <a:fillRect/>
          </a:stretch>
        </p:blipFill>
        <p:spPr bwMode="auto">
          <a:xfrm>
            <a:off x="9604254" y="6302082"/>
            <a:ext cx="2457455" cy="6208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B2EAB466-28C5-38FE-5C67-4D05E908B75D}"/>
              </a:ext>
            </a:extLst>
          </p:cNvPr>
          <p:cNvSpPr txBox="1"/>
          <p:nvPr/>
        </p:nvSpPr>
        <p:spPr>
          <a:xfrm>
            <a:off x="371473" y="1028701"/>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1800" b="1" dirty="0">
                <a:solidFill>
                  <a:srgbClr val="FFFFFF"/>
                </a:solidFill>
                <a:latin typeface="Calibri" panose="020F0704030504030204" pitchFamily="34" charset="0"/>
                <a:ea typeface="Segoe UI Black" panose="020B0A02040204020203" pitchFamily="34" charset="0"/>
              </a:rPr>
              <a:t>BUSINESS REQUIREMENT</a:t>
            </a:r>
          </a:p>
        </p:txBody>
      </p:sp>
      <p:pic>
        <p:nvPicPr>
          <p:cNvPr id="4" name="Picture 3">
            <a:extLst>
              <a:ext uri="{FF2B5EF4-FFF2-40B4-BE49-F238E27FC236}">
                <a16:creationId xmlns:a16="http://schemas.microsoft.com/office/drawing/2014/main" id="{F910EF60-9C0F-9929-3C62-A8120915D021}"/>
              </a:ext>
            </a:extLst>
          </p:cNvPr>
          <p:cNvPicPr>
            <a:picLocks noChangeAspect="1"/>
          </p:cNvPicPr>
          <p:nvPr/>
        </p:nvPicPr>
        <p:blipFill>
          <a:blip r:embed="rId6">
            <a:extLst>
              <a:ext uri="{BEBA8EAE-BF5A-486C-A8C5-ECC9F3942E4B}">
                <a14:imgProps xmlns:a14="http://schemas.microsoft.com/office/drawing/2010/main">
                  <a14:imgLayer r:embed="rId7">
                    <a14:imgEffect>
                      <a14:saturation sat="400000"/>
                    </a14:imgEffect>
                  </a14:imgLayer>
                </a14:imgProps>
              </a:ext>
              <a:ext uri="{28A0092B-C50C-407E-A947-70E740481C1C}">
                <a14:useLocalDpi xmlns:a14="http://schemas.microsoft.com/office/drawing/2010/main" val="0"/>
              </a:ext>
            </a:extLst>
          </a:blip>
          <a:stretch>
            <a:fillRect/>
          </a:stretch>
        </p:blipFill>
        <p:spPr>
          <a:xfrm>
            <a:off x="4630340" y="-1008460"/>
            <a:ext cx="2931320" cy="2931320"/>
          </a:xfrm>
          <a:prstGeom prst="rect">
            <a:avLst/>
          </a:prstGeom>
        </p:spPr>
      </p:pic>
      <p:sp>
        <p:nvSpPr>
          <p:cNvPr id="7" name="TextBox 6">
            <a:extLst>
              <a:ext uri="{FF2B5EF4-FFF2-40B4-BE49-F238E27FC236}">
                <a16:creationId xmlns:a16="http://schemas.microsoft.com/office/drawing/2014/main" id="{9A547B9A-E7E5-0275-BC60-4235D4B41548}"/>
              </a:ext>
            </a:extLst>
          </p:cNvPr>
          <p:cNvSpPr txBox="1"/>
          <p:nvPr/>
        </p:nvSpPr>
        <p:spPr>
          <a:xfrm>
            <a:off x="390524" y="2283945"/>
            <a:ext cx="11296651" cy="3788858"/>
          </a:xfrm>
          <a:prstGeom prst="rect">
            <a:avLst/>
          </a:prstGeom>
          <a:noFill/>
        </p:spPr>
        <p:txBody>
          <a:bodyPr wrap="square" rtlCol="0">
            <a:spAutoFit/>
          </a:bodyPr>
          <a:lstStyle/>
          <a:p>
            <a:pPr>
              <a:lnSpc>
                <a:spcPct val="150000"/>
              </a:lnSpc>
            </a:pPr>
            <a:r>
              <a:rPr lang="en-US" dirty="0" sz="1800">
                <a:solidFill>
                  <a:srgbClr val="FFFFFF"/>
                </a:solidFill>
                <a:latin typeface="Calibri"/>
              </a:rPr>
              <a:t> </a:t>
            </a:r>
            <a:r>
              <a:rPr lang="en-US" b="1" dirty="0" sz="1800">
                <a:solidFill>
                  <a:srgbClr val="FFFFFF"/>
                </a:solidFill>
                <a:latin typeface="Calibri"/>
              </a:rPr>
              <a:t>Total Tracks Played Over Time</a:t>
            </a:r>
            <a:r>
              <a:rPr lang="en-US" dirty="0" sz="1800">
                <a:solidFill>
                  <a:srgbClr val="FFFFFF"/>
                </a:solidFill>
                <a:latin typeface="Calibri"/>
              </a:rPr>
              <a:t>  </a:t>
            </a:r>
            <a:r>
              <a:rPr lang="en-US" dirty="0" sz="1800">
                <a:solidFill>
                  <a:srgbClr val="FFFFFF"/>
                </a:solidFill>
                <a:latin typeface="Calibri"/>
              </a:rPr>
              <a:t>Monitor how track listening trends change across months and years</a:t>
            </a:r>
          </a:p>
          <a:p>
            <a:pPr>
              <a:lnSpc>
                <a:spcPct val="150000"/>
              </a:lnSpc>
            </a:pPr>
            <a:r>
              <a:rPr lang="en-US" dirty="0" sz="1800">
                <a:solidFill>
                  <a:srgbClr val="FFFFFF"/>
                </a:solidFill>
                <a:latin typeface="Calibri"/>
              </a:rPr>
              <a:t> </a:t>
            </a:r>
            <a:r>
              <a:rPr lang="en-US" b="1" dirty="0" sz="1800">
                <a:solidFill>
                  <a:srgbClr val="FFFFFF"/>
                </a:solidFill>
                <a:latin typeface="Calibri"/>
              </a:rPr>
              <a:t>Number of Tracks Listened by Year</a:t>
            </a:r>
            <a:r>
              <a:rPr lang="en-US" dirty="0" sz="1800">
                <a:solidFill>
                  <a:srgbClr val="FFFFFF"/>
                </a:solidFill>
                <a:latin typeface="Calibri"/>
              </a:rPr>
              <a:t>  </a:t>
            </a:r>
            <a:r>
              <a:rPr lang="en-US" dirty="0" sz="1800">
                <a:solidFill>
                  <a:srgbClr val="FFFFFF"/>
                </a:solidFill>
                <a:latin typeface="Calibri"/>
              </a:rPr>
              <a:t>Identify annual listening habits and track diversity.</a:t>
            </a:r>
            <a:r>
              <a:rPr lang="en-US" dirty="0" sz="1800">
                <a:solidFill>
                  <a:srgbClr val="FFFFFF"/>
                </a:solidFill>
                <a:latin typeface="Calibri"/>
              </a:rPr>
              <a:t> (Find the Min and Max Tracks in the view).</a:t>
            </a:r>
          </a:p>
          <a:p>
            <a:pPr>
              <a:lnSpc>
                <a:spcPct val="150000"/>
              </a:lnSpc>
            </a:pPr>
            <a:r>
              <a:rPr lang="en-IN" dirty="0" sz="1800">
                <a:solidFill>
                  <a:srgbClr val="FFFFFF"/>
                </a:solidFill>
                <a:latin typeface="Calibri"/>
              </a:rPr>
              <a:t/>
            </a:r>
            <a:r>
              <a:rPr lang="en-US" b="1" dirty="0" sz="1800">
                <a:solidFill>
                  <a:srgbClr val="FFFFFF"/>
                </a:solidFill>
                <a:latin typeface="Calibri"/>
              </a:rPr>
              <a:t>Tracks Played on Weekday  Weekend  </a:t>
            </a:r>
            <a:r>
              <a:rPr lang="en-US" dirty="0" sz="1800">
                <a:solidFill>
                  <a:srgbClr val="FFFFFF"/>
                </a:solidFill>
                <a:latin typeface="Calibri"/>
              </a:rPr>
              <a:t>Identify the Pattern of music listening on weekdays and weekends.</a:t>
            </a:r>
            <a:endParaRPr lang="en-US" dirty="0">
              <a:solidFill>
                <a:schemeClr val="bg1">
                  <a:lumMod val="95000"/>
                </a:schemeClr>
              </a:solidFill>
            </a:endParaRPr>
          </a:p>
          <a:p>
            <a:pPr>
              <a:lnSpc>
                <a:spcPct val="150000"/>
              </a:lnSpc>
            </a:pPr>
            <a:r>
              <a:rPr lang="en-US" dirty="0" sz="1800">
                <a:solidFill>
                  <a:srgbClr val="FFFFFF"/>
                </a:solidFill>
                <a:latin typeface="Calibri"/>
              </a:rPr>
              <a:t> </a:t>
            </a:r>
            <a:r>
              <a:rPr lang="en-US" b="1" dirty="0" sz="1800">
                <a:solidFill>
                  <a:srgbClr val="FFFFFF"/>
                </a:solidFill>
                <a:latin typeface="Calibri"/>
              </a:rPr>
              <a:t>Top 5 Tracks</a:t>
            </a:r>
            <a:r>
              <a:rPr lang="en-US" dirty="0" sz="1800">
                <a:solidFill>
                  <a:srgbClr val="FFFFFF"/>
                </a:solidFill>
                <a:latin typeface="Calibri"/>
              </a:rPr>
              <a:t>  </a:t>
            </a:r>
            <a:r>
              <a:rPr lang="en-US" dirty="0" sz="1800">
                <a:solidFill>
                  <a:srgbClr val="FFFFFF"/>
                </a:solidFill>
                <a:latin typeface="Calibri"/>
              </a:rPr>
              <a:t>Identify the most played tracks based on listening frequency.</a:t>
            </a:r>
          </a:p>
          <a:p>
            <a:pPr>
              <a:lnSpc>
                <a:spcPct val="150000"/>
              </a:lnSpc>
            </a:pPr>
            <a:r>
              <a:rPr lang="en-US" dirty="0" sz="1800">
                <a:solidFill>
                  <a:srgbClr val="FFFFFF"/>
                </a:solidFill>
                <a:latin typeface="Calibri"/>
              </a:rPr>
              <a:t> </a:t>
            </a:r>
            <a:r>
              <a:rPr lang="en-US" b="1" dirty="0" sz="1800">
                <a:solidFill>
                  <a:srgbClr val="FFFFFF"/>
                </a:solidFill>
                <a:latin typeface="Calibri"/>
              </a:rPr>
              <a:t>Latest Year vs Previous Year Analysis</a:t>
            </a:r>
            <a:r>
              <a:rPr lang="en-US" dirty="0" sz="1800">
                <a:solidFill>
                  <a:srgbClr val="FFFFFF"/>
                </a:solidFill>
                <a:latin typeface="Calibri"/>
              </a:rPr>
              <a:t>  </a:t>
            </a:r>
            <a:r>
              <a:rPr lang="en-US" dirty="0" sz="1800">
                <a:solidFill>
                  <a:srgbClr val="FFFFFF"/>
                </a:solidFill>
                <a:latin typeface="Calibri"/>
              </a:rPr>
              <a:t>Compare track engagement between the latest and previous years, including:</a:t>
            </a:r>
          </a:p>
          <a:p>
            <a:pPr marL="800100" lvl="1" indent="-342900">
              <a:lnSpc>
                <a:spcPct val="150000"/>
              </a:lnSpc>
              <a:buFont typeface="Wingdings" panose="05000000000000000000" pitchFamily="2" charset="2"/>
              <a:buChar char="v"/>
            </a:pPr>
            <a:r>
              <a:rPr lang="en-US" b="1" dirty="0" sz="1800">
                <a:solidFill>
                  <a:srgbClr val="FFFFFF"/>
                </a:solidFill>
                <a:latin typeface="Calibri"/>
              </a:rPr>
              <a:t>LY (Latest Year) vs PY (Previous Year) Trends</a:t>
            </a:r>
            <a:endParaRPr lang="en-US" dirty="0">
              <a:solidFill>
                <a:schemeClr val="accent6">
                  <a:lumMod val="60000"/>
                  <a:lumOff val="40000"/>
                </a:schemeClr>
              </a:solidFill>
            </a:endParaRPr>
          </a:p>
          <a:p>
            <a:pPr marL="800100" lvl="1" indent="-342900">
              <a:lnSpc>
                <a:spcPct val="150000"/>
              </a:lnSpc>
              <a:buFont typeface="Wingdings" panose="05000000000000000000" pitchFamily="2" charset="2"/>
              <a:buChar char="v"/>
            </a:pPr>
            <a:r>
              <a:rPr lang="en-US" b="1" dirty="0" sz="1800">
                <a:solidFill>
                  <a:srgbClr val="FFFFFF"/>
                </a:solidFill>
                <a:latin typeface="Calibri"/>
              </a:rPr>
              <a:t>YoY (Year-over-Year) Growth Analysis</a:t>
            </a:r>
          </a:p>
        </p:txBody>
      </p:sp>
      <p:sp>
        <p:nvSpPr>
          <p:cNvPr id="11" name="TextBox 2">
            <a:extLst>
              <a:ext uri="{FF2B5EF4-FFF2-40B4-BE49-F238E27FC236}">
                <a16:creationId xmlns:a16="http://schemas.microsoft.com/office/drawing/2014/main" id="{0D9BE8EC-0FB9-AE95-F549-CAB72D14F317}"/>
              </a:ext>
            </a:extLst>
          </p:cNvPr>
          <p:cNvSpPr txBox="1"/>
          <p:nvPr/>
        </p:nvSpPr>
        <p:spPr>
          <a:xfrm>
            <a:off x="390524" y="1797251"/>
            <a:ext cx="200977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1800" b="1" dirty="0">
                <a:solidFill>
                  <a:srgbClr val="FFFFFF"/>
                </a:solidFill>
                <a:latin typeface="Calibri" panose="04020705040A02060702" pitchFamily="82" charset="0"/>
                <a:ea typeface="Segoe UI Black" panose="020B0A02040204020203" pitchFamily="34" charset="0"/>
              </a:rPr>
              <a:t>TRACKS</a:t>
            </a:r>
          </a:p>
        </p:txBody>
      </p:sp>
    </p:spTree>
    <p:extLst>
      <p:ext uri="{BB962C8B-B14F-4D97-AF65-F5344CB8AC3E}">
        <p14:creationId xmlns:p14="http://schemas.microsoft.com/office/powerpoint/2010/main" val="3204376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C8EA04C3-4D19-7545-37F7-86ECF353DBD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9C7663-2508-AFA1-189B-5E0EC3F64768}"/>
              </a:ext>
            </a:extLst>
          </p:cNvPr>
          <p:cNvPicPr>
            <a:picLocks noChangeAspect="1"/>
          </p:cNvPicPr>
          <p:nvPr/>
        </p:nvPicPr>
        <p:blipFill>
          <a:blip r:embed="rId2"/>
          <a:stretch>
            <a:fillRect/>
          </a:stretch>
        </p:blipFill>
        <p:spPr>
          <a:xfrm>
            <a:off x="0" y="-13802"/>
            <a:ext cx="12192000" cy="7182658"/>
          </a:xfrm>
          <a:prstGeom prst="rect">
            <a:avLst/>
          </a:prstGeom>
        </p:spPr>
      </p:pic>
      <p:sp>
        <p:nvSpPr>
          <p:cNvPr id="6" name="Rectangle 5">
            <a:extLst>
              <a:ext uri="{FF2B5EF4-FFF2-40B4-BE49-F238E27FC236}">
                <a16:creationId xmlns:a16="http://schemas.microsoft.com/office/drawing/2014/main" id="{8BBDE2BB-B67B-DE6F-32FF-BDBA6014619D}"/>
              </a:ext>
            </a:extLst>
          </p:cNvPr>
          <p:cNvSpPr/>
          <p:nvPr/>
        </p:nvSpPr>
        <p:spPr>
          <a:xfrm>
            <a:off x="0" y="-13802"/>
            <a:ext cx="12192000" cy="7182658"/>
          </a:xfrm>
          <a:prstGeom prst="rect">
            <a:avLst/>
          </a:prstGeom>
          <a:solidFill>
            <a:srgbClr val="033722">
              <a:alpha val="92941"/>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2">
            <a:extLst>
              <a:ext uri="{FF2B5EF4-FFF2-40B4-BE49-F238E27FC236}">
                <a16:creationId xmlns:a16="http://schemas.microsoft.com/office/drawing/2014/main" id="{E6666885-54B9-EE33-224F-B7F2BF466553}"/>
              </a:ext>
            </a:extLst>
          </p:cNvPr>
          <p:cNvPicPr>
            <a:picLocks noChangeAspect="1" noChangeArrowheads="1"/>
          </p:cNvPicPr>
          <p:nvPr/>
        </p:nvPicPr>
        <p:blipFill>
          <a:blip r:embed="rId3">
            <a:duotone>
              <a:schemeClr val="accent4">
                <a:shade val="45000"/>
                <a:satMod val="135000"/>
              </a:schemeClr>
              <a:prstClr val="white"/>
            </a:duotone>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rcRect/>
          <a:stretch>
            <a:fillRect/>
          </a:stretch>
        </p:blipFill>
        <p:spPr bwMode="auto">
          <a:xfrm>
            <a:off x="262829" y="121757"/>
            <a:ext cx="659012" cy="65901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Power BI - Udemy Business">
            <a:extLst>
              <a:ext uri="{FF2B5EF4-FFF2-40B4-BE49-F238E27FC236}">
                <a16:creationId xmlns:a16="http://schemas.microsoft.com/office/drawing/2014/main" id="{EAE4D966-EE08-A425-6607-39E443ECA5CB}"/>
              </a:ext>
            </a:extLst>
          </p:cNvPr>
          <p:cNvPicPr>
            <a:picLocks noChangeAspect="1" noChangeArrowheads="1"/>
          </p:cNvPicPr>
          <p:nvPr/>
        </p:nvPicPr>
        <p:blipFill>
          <a:blip r:embed="rId5">
            <a:lum bright="70000" contrast="-70000"/>
            <a:extLst>
              <a:ext uri="{28A0092B-C50C-407E-A947-70E740481C1C}">
                <a14:useLocalDpi xmlns:a14="http://schemas.microsoft.com/office/drawing/2010/main" val="0"/>
              </a:ext>
            </a:extLst>
          </a:blip>
          <a:srcRect/>
          <a:stretch>
            <a:fillRect/>
          </a:stretch>
        </p:blipFill>
        <p:spPr bwMode="auto">
          <a:xfrm>
            <a:off x="9604254" y="6302082"/>
            <a:ext cx="2457455" cy="6208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D502534F-7DEC-AA9D-6A40-CAAF6C4559B6}"/>
              </a:ext>
            </a:extLst>
          </p:cNvPr>
          <p:cNvSpPr txBox="1"/>
          <p:nvPr/>
        </p:nvSpPr>
        <p:spPr>
          <a:xfrm>
            <a:off x="371473" y="1028701"/>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1800" b="1" dirty="0">
                <a:solidFill>
                  <a:srgbClr val="FFFFFF"/>
                </a:solidFill>
                <a:latin typeface="Calibri" panose="020F0704030504030204" pitchFamily="34" charset="0"/>
                <a:ea typeface="Segoe UI Black" panose="020B0A02040204020203" pitchFamily="34" charset="0"/>
              </a:rPr>
              <a:t>BUSINESS REQUIREMENT</a:t>
            </a:r>
          </a:p>
        </p:txBody>
      </p:sp>
      <p:pic>
        <p:nvPicPr>
          <p:cNvPr id="4" name="Picture 3">
            <a:extLst>
              <a:ext uri="{FF2B5EF4-FFF2-40B4-BE49-F238E27FC236}">
                <a16:creationId xmlns:a16="http://schemas.microsoft.com/office/drawing/2014/main" id="{20C9A57B-4494-4DFF-7CA5-8D1B6194406A}"/>
              </a:ext>
            </a:extLst>
          </p:cNvPr>
          <p:cNvPicPr>
            <a:picLocks noChangeAspect="1"/>
          </p:cNvPicPr>
          <p:nvPr/>
        </p:nvPicPr>
        <p:blipFill>
          <a:blip r:embed="rId6">
            <a:extLst>
              <a:ext uri="{BEBA8EAE-BF5A-486C-A8C5-ECC9F3942E4B}">
                <a14:imgProps xmlns:a14="http://schemas.microsoft.com/office/drawing/2010/main">
                  <a14:imgLayer r:embed="rId7">
                    <a14:imgEffect>
                      <a14:saturation sat="400000"/>
                    </a14:imgEffect>
                  </a14:imgLayer>
                </a14:imgProps>
              </a:ext>
              <a:ext uri="{28A0092B-C50C-407E-A947-70E740481C1C}">
                <a14:useLocalDpi xmlns:a14="http://schemas.microsoft.com/office/drawing/2010/main" val="0"/>
              </a:ext>
            </a:extLst>
          </a:blip>
          <a:stretch>
            <a:fillRect/>
          </a:stretch>
        </p:blipFill>
        <p:spPr>
          <a:xfrm>
            <a:off x="4630340" y="-1008460"/>
            <a:ext cx="2931320" cy="2931320"/>
          </a:xfrm>
          <a:prstGeom prst="rect">
            <a:avLst/>
          </a:prstGeom>
        </p:spPr>
      </p:pic>
      <p:sp>
        <p:nvSpPr>
          <p:cNvPr id="11" name="TextBox 2">
            <a:extLst>
              <a:ext uri="{FF2B5EF4-FFF2-40B4-BE49-F238E27FC236}">
                <a16:creationId xmlns:a16="http://schemas.microsoft.com/office/drawing/2014/main" id="{541C8A4D-7A76-EA53-69B1-3F4B0EB2873D}"/>
              </a:ext>
            </a:extLst>
          </p:cNvPr>
          <p:cNvSpPr txBox="1"/>
          <p:nvPr/>
        </p:nvSpPr>
        <p:spPr>
          <a:xfrm>
            <a:off x="390523" y="1657245"/>
            <a:ext cx="434340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1800" b="1" dirty="0">
                <a:solidFill>
                  <a:srgbClr val="FFFFFF"/>
                </a:solidFill>
                <a:latin typeface="Calibri" panose="04020705040A02060702" pitchFamily="82" charset="0"/>
                <a:ea typeface="Segoe UI Black" panose="020B0A02040204020203" pitchFamily="34" charset="0"/>
              </a:rPr>
              <a:t>LISTENING PATTERNS</a:t>
            </a:r>
          </a:p>
        </p:txBody>
      </p:sp>
      <p:sp>
        <p:nvSpPr>
          <p:cNvPr id="3" name="TextBox 2">
            <a:extLst>
              <a:ext uri="{FF2B5EF4-FFF2-40B4-BE49-F238E27FC236}">
                <a16:creationId xmlns:a16="http://schemas.microsoft.com/office/drawing/2014/main" id="{D1F534FE-C98B-6CBB-78A1-27817823FD7E}"/>
              </a:ext>
            </a:extLst>
          </p:cNvPr>
          <p:cNvSpPr txBox="1"/>
          <p:nvPr/>
        </p:nvSpPr>
        <p:spPr>
          <a:xfrm>
            <a:off x="390523" y="2285789"/>
            <a:ext cx="11430002" cy="3737946"/>
          </a:xfrm>
          <a:prstGeom prst="rect">
            <a:avLst/>
          </a:prstGeom>
          <a:noFill/>
        </p:spPr>
        <p:txBody>
          <a:bodyPr wrap="square" rtlCol="0">
            <a:spAutoFit/>
          </a:bodyPr>
          <a:lstStyle/>
          <a:p>
            <a:pPr>
              <a:lnSpc>
                <a:spcPct val="150000"/>
              </a:lnSpc>
            </a:pPr>
            <a:r>
              <a:rPr lang="en-US" sz="1800" dirty="0">
                <a:solidFill>
                  <a:srgbClr val="FFFFFF"/>
                </a:solidFill>
                <a:latin typeface="Calibri"/>
              </a:rPr>
              <a:t> </a:t>
            </a:r>
            <a:r>
              <a:rPr lang="en-US" sz="1800" b="1" dirty="0">
                <a:solidFill>
                  <a:srgbClr val="FFFFFF"/>
                </a:solidFill>
                <a:latin typeface="Calibri"/>
              </a:rPr>
              <a:t>Listening Hours Analysis</a:t>
            </a:r>
            <a:r>
              <a:rPr lang="en-US" sz="1800" dirty="0">
                <a:solidFill>
                  <a:srgbClr val="FFFFFF"/>
                </a:solidFill>
                <a:latin typeface="Calibri"/>
              </a:rPr>
              <a:t> </a:t>
            </a:r>
            <a:r>
              <a:rPr lang="en-US" sz="1800" dirty="0">
                <a:solidFill>
                  <a:srgbClr val="FFFFFF"/>
                </a:solidFill>
                <a:latin typeface="Calibri"/>
              </a:rPr>
              <a:t> Identify peak listening times using a </a:t>
            </a:r>
            <a:r>
              <a:rPr lang="en-US" sz="1800" b="1" dirty="0">
                <a:solidFill>
                  <a:srgbClr val="FFFFFF"/>
                </a:solidFill>
                <a:latin typeface="Calibri"/>
              </a:rPr>
              <a:t>Heat Map</a:t>
            </a:r>
            <a:r>
              <a:rPr lang="en-US" sz="1800" dirty="0">
                <a:solidFill>
                  <a:srgbClr val="FFFFFF"/>
                </a:solidFill>
                <a:latin typeface="Calibri"/>
              </a:rPr>
              <a:t> that visualizes patterns across hours and days with color intensity.</a:t>
            </a:r>
            <a:br>
              <a:rPr lang="en-US" sz="2000" dirty="0">
                <a:solidFill>
                  <a:schemeClr val="bg1"/>
                </a:solidFill>
              </a:rPr>
            </a:br>
            <a:r>
              <a:rPr lang="en-US" sz="1800" dirty="0">
                <a:solidFill>
                  <a:srgbClr val="FFFFFF"/>
                </a:solidFill>
                <a:latin typeface="Calibri"/>
              </a:rPr>
              <a:t> </a:t>
            </a:r>
            <a:r>
              <a:rPr lang="en-US" sz="1800" b="1" dirty="0">
                <a:solidFill>
                  <a:srgbClr val="FFFFFF"/>
                </a:solidFill>
                <a:latin typeface="Calibri"/>
              </a:rPr>
              <a:t>Average Listening Time (min) vs Track Frequency</a:t>
            </a:r>
            <a:r>
              <a:rPr lang="en-US" sz="1800" dirty="0">
                <a:solidFill>
                  <a:srgbClr val="FFFFFF"/>
                </a:solidFill>
                <a:latin typeface="Calibri"/>
              </a:rPr>
              <a:t> </a:t>
            </a:r>
            <a:r>
              <a:rPr lang="en-US" sz="1800" dirty="0">
                <a:solidFill>
                  <a:srgbClr val="FFFFFF"/>
                </a:solidFill>
                <a:latin typeface="Calibri"/>
              </a:rPr>
              <a:t> Use a </a:t>
            </a:r>
            <a:r>
              <a:rPr lang="en-US" sz="1800" b="1" dirty="0">
                <a:solidFill>
                  <a:srgbClr val="FFFFFF"/>
                </a:solidFill>
                <a:latin typeface="Calibri"/>
              </a:rPr>
              <a:t>Scatter Plot with Quadrant Analysis</a:t>
            </a:r>
            <a:r>
              <a:rPr lang="en-US" sz="1800" dirty="0">
                <a:solidFill>
                  <a:srgbClr val="FFFFFF"/>
                </a:solidFill>
                <a:latin typeface="Calibri"/>
              </a:rPr>
              <a:t> to categorize tracks based on:</a:t>
            </a:r>
          </a:p>
          <a:p>
            <a:pPr marL="800100" lvl="1" indent="-342900">
              <a:lnSpc>
                <a:spcPct val="150000"/>
              </a:lnSpc>
              <a:buFont typeface="Wingdings" panose="05000000000000000000" pitchFamily="2" charset="2"/>
              <a:buChar char="v"/>
            </a:pPr>
            <a:r>
              <a:rPr lang="en-US" sz="1800" b="1" dirty="0">
                <a:solidFill>
                  <a:srgbClr val="FFFFFF"/>
                </a:solidFill>
                <a:latin typeface="Calibri"/>
              </a:rPr>
              <a:t>High Frequency  High Listening Time</a:t>
            </a:r>
            <a:r>
              <a:rPr lang="en-US" sz="1800" dirty="0">
                <a:solidFill>
                  <a:srgbClr val="FFFFFF"/>
                </a:solidFill>
                <a:latin typeface="Calibri"/>
              </a:rPr>
              <a:t>  Most engaging tracks </a:t>
            </a:r>
          </a:p>
          <a:p>
            <a:pPr marL="800100" lvl="1" indent="-342900">
              <a:lnSpc>
                <a:spcPct val="150000"/>
              </a:lnSpc>
              <a:buFont typeface="Wingdings" panose="05000000000000000000" pitchFamily="2" charset="2"/>
              <a:buChar char="v"/>
            </a:pPr>
            <a:r>
              <a:rPr lang="en-US" sz="1800" b="1" dirty="0">
                <a:solidFill>
                  <a:srgbClr val="FFFFFF"/>
                </a:solidFill>
                <a:latin typeface="Calibri"/>
              </a:rPr>
              <a:t>Low Frequency  High Listening Time</a:t>
            </a:r>
            <a:r>
              <a:rPr lang="en-US" sz="1800" dirty="0">
                <a:solidFill>
                  <a:srgbClr val="FFFFFF"/>
                </a:solidFill>
                <a:latin typeface="Calibri"/>
              </a:rPr>
              <a:t>  Niche but impactful tracks</a:t>
            </a:r>
          </a:p>
          <a:p>
            <a:pPr marL="800100" lvl="1" indent="-342900">
              <a:lnSpc>
                <a:spcPct val="150000"/>
              </a:lnSpc>
              <a:buFont typeface="Wingdings" panose="05000000000000000000" pitchFamily="2" charset="2"/>
              <a:buChar char="v"/>
            </a:pPr>
            <a:r>
              <a:rPr lang="en-US" sz="1800" b="1" dirty="0">
                <a:solidFill>
                  <a:srgbClr val="FFFFFF"/>
                </a:solidFill>
                <a:latin typeface="Calibri"/>
              </a:rPr>
              <a:t>High Frequency  Low Listening Time</a:t>
            </a:r>
            <a:r>
              <a:rPr lang="en-US" sz="1800" dirty="0">
                <a:solidFill>
                  <a:srgbClr val="FFFFFF"/>
                </a:solidFill>
                <a:latin typeface="Calibri"/>
              </a:rPr>
              <a:t>  Short  frequently played tracks</a:t>
            </a:r>
          </a:p>
          <a:p>
            <a:pPr marL="800100" lvl="1" indent="-342900">
              <a:lnSpc>
                <a:spcPct val="150000"/>
              </a:lnSpc>
              <a:buFont typeface="Wingdings" panose="05000000000000000000" pitchFamily="2" charset="2"/>
              <a:buChar char="v"/>
            </a:pPr>
            <a:r>
              <a:rPr lang="en-US" sz="1800" b="1" dirty="0">
                <a:solidFill>
                  <a:srgbClr val="FFFFFF"/>
                </a:solidFill>
                <a:latin typeface="Calibri"/>
              </a:rPr>
              <a:t>Low Frequency  Low Listening Time</a:t>
            </a:r>
            <a:r>
              <a:rPr lang="en-US" sz="1800" dirty="0">
                <a:solidFill>
                  <a:srgbClr val="FFFFFF"/>
                </a:solidFill>
                <a:latin typeface="Calibri"/>
              </a:rPr>
              <a:t>  Less popular tracks</a:t>
            </a:r>
          </a:p>
        </p:txBody>
      </p:sp>
    </p:spTree>
    <p:extLst>
      <p:ext uri="{BB962C8B-B14F-4D97-AF65-F5344CB8AC3E}">
        <p14:creationId xmlns:p14="http://schemas.microsoft.com/office/powerpoint/2010/main" val="1827540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57E7218A-33E9-0459-314E-3E52BD6EE06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6B0407C-DB64-3C83-F469-4E10F90F50D9}"/>
              </a:ext>
            </a:extLst>
          </p:cNvPr>
          <p:cNvPicPr>
            <a:picLocks noChangeAspect="1"/>
          </p:cNvPicPr>
          <p:nvPr/>
        </p:nvPicPr>
        <p:blipFill>
          <a:blip r:embed="rId2"/>
          <a:stretch>
            <a:fillRect/>
          </a:stretch>
        </p:blipFill>
        <p:spPr>
          <a:xfrm>
            <a:off x="0" y="-13802"/>
            <a:ext cx="12192000" cy="7182658"/>
          </a:xfrm>
          <a:prstGeom prst="rect">
            <a:avLst/>
          </a:prstGeom>
        </p:spPr>
      </p:pic>
      <p:sp>
        <p:nvSpPr>
          <p:cNvPr id="6" name="Rectangle 5">
            <a:extLst>
              <a:ext uri="{FF2B5EF4-FFF2-40B4-BE49-F238E27FC236}">
                <a16:creationId xmlns:a16="http://schemas.microsoft.com/office/drawing/2014/main" id="{6C3B9BCB-5554-0A4B-8D14-3D2263B6F8F1}"/>
              </a:ext>
            </a:extLst>
          </p:cNvPr>
          <p:cNvSpPr/>
          <p:nvPr/>
        </p:nvSpPr>
        <p:spPr>
          <a:xfrm>
            <a:off x="0" y="-13802"/>
            <a:ext cx="12192000" cy="7182658"/>
          </a:xfrm>
          <a:prstGeom prst="rect">
            <a:avLst/>
          </a:prstGeom>
          <a:solidFill>
            <a:srgbClr val="033722">
              <a:alpha val="92941"/>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2">
            <a:extLst>
              <a:ext uri="{FF2B5EF4-FFF2-40B4-BE49-F238E27FC236}">
                <a16:creationId xmlns:a16="http://schemas.microsoft.com/office/drawing/2014/main" id="{93B1AD1F-C066-4DCB-6773-509453045020}"/>
              </a:ext>
            </a:extLst>
          </p:cNvPr>
          <p:cNvPicPr>
            <a:picLocks noChangeAspect="1" noChangeArrowheads="1"/>
          </p:cNvPicPr>
          <p:nvPr/>
        </p:nvPicPr>
        <p:blipFill>
          <a:blip r:embed="rId3">
            <a:duotone>
              <a:schemeClr val="accent4">
                <a:shade val="45000"/>
                <a:satMod val="135000"/>
              </a:schemeClr>
              <a:prstClr val="white"/>
            </a:duotone>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rcRect/>
          <a:stretch>
            <a:fillRect/>
          </a:stretch>
        </p:blipFill>
        <p:spPr bwMode="auto">
          <a:xfrm>
            <a:off x="262829" y="121757"/>
            <a:ext cx="659012" cy="65901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Power BI - Udemy Business">
            <a:extLst>
              <a:ext uri="{FF2B5EF4-FFF2-40B4-BE49-F238E27FC236}">
                <a16:creationId xmlns:a16="http://schemas.microsoft.com/office/drawing/2014/main" id="{A4E2C5C6-79BE-FD58-3AA8-EA5DD5615573}"/>
              </a:ext>
            </a:extLst>
          </p:cNvPr>
          <p:cNvPicPr>
            <a:picLocks noChangeAspect="1" noChangeArrowheads="1"/>
          </p:cNvPicPr>
          <p:nvPr/>
        </p:nvPicPr>
        <p:blipFill>
          <a:blip r:embed="rId5">
            <a:lum bright="70000" contrast="-70000"/>
            <a:extLst>
              <a:ext uri="{28A0092B-C50C-407E-A947-70E740481C1C}">
                <a14:useLocalDpi xmlns:a14="http://schemas.microsoft.com/office/drawing/2010/main" val="0"/>
              </a:ext>
            </a:extLst>
          </a:blip>
          <a:srcRect/>
          <a:stretch>
            <a:fillRect/>
          </a:stretch>
        </p:blipFill>
        <p:spPr bwMode="auto">
          <a:xfrm>
            <a:off x="9604254" y="6302082"/>
            <a:ext cx="2457455" cy="6208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09B2BC15-B978-EAA3-0559-633383F1876A}"/>
              </a:ext>
            </a:extLst>
          </p:cNvPr>
          <p:cNvSpPr txBox="1"/>
          <p:nvPr/>
        </p:nvSpPr>
        <p:spPr>
          <a:xfrm>
            <a:off x="371473" y="1028701"/>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1800" b="1" dirty="0">
                <a:solidFill>
                  <a:srgbClr val="FFFFFF"/>
                </a:solidFill>
                <a:latin typeface="Calibri" panose="020F0704030504030204" pitchFamily="34" charset="0"/>
                <a:ea typeface="Segoe UI Black" panose="020B0A02040204020203" pitchFamily="34" charset="0"/>
              </a:rPr>
              <a:t>BUSINESS REQUIREMENT</a:t>
            </a:r>
          </a:p>
        </p:txBody>
      </p:sp>
      <p:pic>
        <p:nvPicPr>
          <p:cNvPr id="4" name="Picture 3">
            <a:extLst>
              <a:ext uri="{FF2B5EF4-FFF2-40B4-BE49-F238E27FC236}">
                <a16:creationId xmlns:a16="http://schemas.microsoft.com/office/drawing/2014/main" id="{1526F6D1-9846-2C84-4906-EC6A642E65E1}"/>
              </a:ext>
            </a:extLst>
          </p:cNvPr>
          <p:cNvPicPr>
            <a:picLocks noChangeAspect="1"/>
          </p:cNvPicPr>
          <p:nvPr/>
        </p:nvPicPr>
        <p:blipFill>
          <a:blip r:embed="rId6">
            <a:extLst>
              <a:ext uri="{BEBA8EAE-BF5A-486C-A8C5-ECC9F3942E4B}">
                <a14:imgProps xmlns:a14="http://schemas.microsoft.com/office/drawing/2010/main">
                  <a14:imgLayer r:embed="rId7">
                    <a14:imgEffect>
                      <a14:saturation sat="400000"/>
                    </a14:imgEffect>
                  </a14:imgLayer>
                </a14:imgProps>
              </a:ext>
              <a:ext uri="{28A0092B-C50C-407E-A947-70E740481C1C}">
                <a14:useLocalDpi xmlns:a14="http://schemas.microsoft.com/office/drawing/2010/main" val="0"/>
              </a:ext>
            </a:extLst>
          </a:blip>
          <a:stretch>
            <a:fillRect/>
          </a:stretch>
        </p:blipFill>
        <p:spPr>
          <a:xfrm>
            <a:off x="4630340" y="-1008460"/>
            <a:ext cx="2931320" cy="2931320"/>
          </a:xfrm>
          <a:prstGeom prst="rect">
            <a:avLst/>
          </a:prstGeom>
        </p:spPr>
      </p:pic>
      <p:sp>
        <p:nvSpPr>
          <p:cNvPr id="11" name="TextBox 2">
            <a:extLst>
              <a:ext uri="{FF2B5EF4-FFF2-40B4-BE49-F238E27FC236}">
                <a16:creationId xmlns:a16="http://schemas.microsoft.com/office/drawing/2014/main" id="{2E68FBD4-6FF5-44BB-2A13-4982BE268BEE}"/>
              </a:ext>
            </a:extLst>
          </p:cNvPr>
          <p:cNvSpPr txBox="1"/>
          <p:nvPr/>
        </p:nvSpPr>
        <p:spPr>
          <a:xfrm>
            <a:off x="390523" y="1562359"/>
            <a:ext cx="434340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1800" b="1" dirty="0">
                <a:solidFill>
                  <a:srgbClr val="FFFFFF"/>
                </a:solidFill>
                <a:latin typeface="Calibri" panose="04020705040A02060702" pitchFamily="82" charset="0"/>
                <a:ea typeface="Segoe UI Black" panose="020B0A02040204020203" pitchFamily="34" charset="0"/>
              </a:rPr>
              <a:t>DETAILS GRID</a:t>
            </a:r>
          </a:p>
        </p:txBody>
      </p:sp>
      <p:sp>
        <p:nvSpPr>
          <p:cNvPr id="3" name="TextBox 2">
            <a:extLst>
              <a:ext uri="{FF2B5EF4-FFF2-40B4-BE49-F238E27FC236}">
                <a16:creationId xmlns:a16="http://schemas.microsoft.com/office/drawing/2014/main" id="{5355BC68-4EB1-FC2F-A6E7-D99DD9EAD0AC}"/>
              </a:ext>
            </a:extLst>
          </p:cNvPr>
          <p:cNvSpPr txBox="1"/>
          <p:nvPr/>
        </p:nvSpPr>
        <p:spPr>
          <a:xfrm>
            <a:off x="390523" y="2159908"/>
            <a:ext cx="11430002" cy="4093428"/>
          </a:xfrm>
          <a:prstGeom prst="rect">
            <a:avLst/>
          </a:prstGeom>
          <a:noFill/>
        </p:spPr>
        <p:txBody>
          <a:bodyPr wrap="square" rtlCol="0">
            <a:spAutoFit/>
          </a:bodyPr>
          <a:lstStyle/>
          <a:p>
            <a:r>
              <a:rPr lang="en-US" sz="1800" dirty="0">
                <a:solidFill>
                  <a:srgbClr val="FFFFFF"/>
                </a:solidFill>
                <a:latin typeface="Calibri"/>
              </a:rPr>
              <a:t>In this report, we aim to analyze Spotify data by creating an interactive and dynamic </a:t>
            </a:r>
            <a:r>
              <a:rPr lang="en-US" sz="1800" b="1" dirty="0">
                <a:solidFill>
                  <a:srgbClr val="FFFFFF"/>
                </a:solidFill>
                <a:latin typeface="Calibri"/>
              </a:rPr>
              <a:t>Grid View</a:t>
            </a:r>
            <a:r>
              <a:rPr lang="en-US" sz="1800" dirty="0">
                <a:solidFill>
                  <a:srgbClr val="FFFFFF"/>
                </a:solidFill>
                <a:latin typeface="Calibri"/>
              </a:rPr>
              <a:t>. The Grid will display key details such as </a:t>
            </a:r>
            <a:r>
              <a:rPr lang="en-US" sz="1800" b="1" dirty="0">
                <a:solidFill>
                  <a:srgbClr val="FFFFFF"/>
                </a:solidFill>
                <a:latin typeface="Calibri"/>
              </a:rPr>
              <a:t>Album Name, Artist Name, Track Name,</a:t>
            </a:r>
            <a:r>
              <a:rPr lang="en-US" sz="1800" dirty="0">
                <a:solidFill>
                  <a:srgbClr val="FFFFFF"/>
                </a:solidFill>
                <a:latin typeface="Calibri"/>
              </a:rPr>
              <a:t> and other relevant attributes.</a:t>
            </a:r>
            <a:br>
              <a:rPr lang="en-US" sz="2000" dirty="0">
                <a:solidFill>
                  <a:schemeClr val="bg1"/>
                </a:solidFill>
              </a:rPr>
            </a:br>
            <a:endParaRPr lang="en-US" sz="2000" dirty="0">
              <a:solidFill>
                <a:schemeClr val="bg1"/>
              </a:solidFill>
            </a:endParaRPr>
          </a:p>
          <a:p>
            <a:r>
              <a:rPr lang="en-US" sz="1800" b="1" dirty="0">
                <a:solidFill>
                  <a:srgbClr val="FFFFFF"/>
                </a:solidFill>
                <a:latin typeface="Calibri"/>
              </a:rPr>
              <a:t>Key Requirements:</a:t>
            </a:r>
          </a:p>
          <a:p>
            <a:pPr>
              <a:buFont typeface="+mj-lt"/>
              <a:buAutoNum type="arabicPeriod"/>
            </a:pPr>
            <a:r>
              <a:rPr lang="en-US" sz="1800" b="1" dirty="0">
                <a:solidFill>
                  <a:srgbClr val="FFFFFF"/>
                </a:solidFill>
                <a:latin typeface="Calibri"/>
              </a:rPr>
              <a:t> Grid View with Essential Fields:</a:t>
            </a:r>
            <a:endParaRPr lang="en-US" sz="2000" dirty="0">
              <a:solidFill>
                <a:schemeClr val="accent6">
                  <a:lumMod val="40000"/>
                  <a:lumOff val="60000"/>
                </a:schemeClr>
              </a:solidFill>
            </a:endParaRPr>
          </a:p>
          <a:p>
            <a:pPr marL="742950" lvl="1" indent="-285750">
              <a:buFont typeface="+mj-lt"/>
              <a:buAutoNum type="arabicPeriod"/>
            </a:pPr>
            <a:r>
              <a:rPr lang="en-US" sz="1800" dirty="0">
                <a:solidFill>
                  <a:srgbClr val="FFFFFF"/>
                </a:solidFill>
                <a:latin typeface="Calibri"/>
              </a:rPr>
              <a:t>The Grid should present critical data points for an intuitive and structured view.</a:t>
            </a:r>
          </a:p>
          <a:p>
            <a:r>
              <a:rPr lang="en-US" sz="1800" b="1" dirty="0">
                <a:solidFill>
                  <a:srgbClr val="FFFFFF"/>
                </a:solidFill>
                <a:latin typeface="Calibri"/>
              </a:rPr>
              <a:t>2. Drill Through Functionality:</a:t>
            </a:r>
          </a:p>
          <a:p>
            <a:pPr marL="742950" lvl="1" indent="-285750">
              <a:buFont typeface="+mj-lt"/>
              <a:buAutoNum type="arabicPeriod"/>
            </a:pPr>
            <a:r>
              <a:rPr lang="en-US" sz="1800" dirty="0">
                <a:solidFill>
                  <a:srgbClr val="FFFFFF"/>
                </a:solidFill>
                <a:latin typeface="Calibri"/>
              </a:rPr>
              <a:t>Users should be able to drill through from the main reports to explore underlying data for detailed insights.</a:t>
            </a:r>
          </a:p>
          <a:p>
            <a:pPr marL="742950" lvl="1" indent="-285750">
              <a:buFont typeface="+mj-lt"/>
              <a:buAutoNum type="arabicPeriod"/>
            </a:pPr>
            <a:r>
              <a:rPr lang="en-US" sz="1800" dirty="0">
                <a:solidFill>
                  <a:srgbClr val="FFFFFF"/>
                </a:solidFill>
                <a:latin typeface="Calibri"/>
              </a:rPr>
              <a:t>The drilled-through data should be exportable to a CSV file based on user requirements.</a:t>
            </a:r>
          </a:p>
          <a:p>
            <a:r>
              <a:rPr lang="en-US" sz="1800" b="1" dirty="0">
                <a:solidFill>
                  <a:srgbClr val="FFFFFF"/>
                </a:solidFill>
                <a:latin typeface="Calibri"/>
              </a:rPr>
              <a:t>3. Drill Down, Drill Up, and Hierarchy:</a:t>
            </a:r>
          </a:p>
          <a:p>
            <a:pPr marL="742950" lvl="1" indent="-285750">
              <a:buFont typeface="+mj-lt"/>
              <a:buAutoNum type="arabicPeriod"/>
            </a:pPr>
            <a:r>
              <a:rPr lang="en-US" sz="1800" dirty="0">
                <a:solidFill>
                  <a:srgbClr val="FFFFFF"/>
                </a:solidFill>
                <a:latin typeface="Calibri"/>
              </a:rPr>
              <a:t>The Grid should support hierarchical navigation, allowing users to drill down and up for in-depth data exploration.</a:t>
            </a:r>
          </a:p>
        </p:txBody>
      </p:sp>
    </p:spTree>
    <p:extLst>
      <p:ext uri="{BB962C8B-B14F-4D97-AF65-F5344CB8AC3E}">
        <p14:creationId xmlns:p14="http://schemas.microsoft.com/office/powerpoint/2010/main" val="3498528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823</TotalTime>
  <Words>670</Words>
  <Application>Microsoft Macintosh PowerPoint</Application>
  <PresentationFormat>Widescreen</PresentationFormat>
  <Paragraphs>56</Paragraphs>
  <Slides>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Algerian</vt:lpstr>
      <vt:lpstr>Aptos</vt:lpstr>
      <vt:lpstr>Arial</vt:lpstr>
      <vt:lpstr>Arial Rounded MT Bold</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Swapnajeet A</dc:creator>
  <cp:lastModifiedBy>Joseph Vinay Kumar Polanki</cp:lastModifiedBy>
  <cp:revision>20</cp:revision>
  <dcterms:created xsi:type="dcterms:W3CDTF">2025-02-24T07:50:09Z</dcterms:created>
  <dcterms:modified xsi:type="dcterms:W3CDTF">2025-04-13T12:29:17Z</dcterms:modified>
</cp:coreProperties>
</file>